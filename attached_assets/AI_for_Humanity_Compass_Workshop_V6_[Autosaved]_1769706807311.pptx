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3" r:id="rId1"/>
  </p:sldMasterIdLst>
  <p:notesMasterIdLst>
    <p:notesMasterId r:id="rId40"/>
  </p:notesMasterIdLst>
  <p:sldIdLst>
    <p:sldId id="256" r:id="rId2"/>
    <p:sldId id="267" r:id="rId3"/>
    <p:sldId id="301" r:id="rId4"/>
    <p:sldId id="265" r:id="rId5"/>
    <p:sldId id="266" r:id="rId6"/>
    <p:sldId id="269" r:id="rId7"/>
    <p:sldId id="323" r:id="rId8"/>
    <p:sldId id="326" r:id="rId9"/>
    <p:sldId id="325" r:id="rId10"/>
    <p:sldId id="324" r:id="rId11"/>
    <p:sldId id="302" r:id="rId12"/>
    <p:sldId id="304" r:id="rId13"/>
    <p:sldId id="306" r:id="rId14"/>
    <p:sldId id="307" r:id="rId15"/>
    <p:sldId id="308" r:id="rId16"/>
    <p:sldId id="309" r:id="rId17"/>
    <p:sldId id="310" r:id="rId18"/>
    <p:sldId id="311" r:id="rId19"/>
    <p:sldId id="270" r:id="rId20"/>
    <p:sldId id="271" r:id="rId21"/>
    <p:sldId id="272" r:id="rId22"/>
    <p:sldId id="273" r:id="rId23"/>
    <p:sldId id="274" r:id="rId24"/>
    <p:sldId id="275" r:id="rId25"/>
    <p:sldId id="313" r:id="rId26"/>
    <p:sldId id="314" r:id="rId27"/>
    <p:sldId id="315" r:id="rId28"/>
    <p:sldId id="316" r:id="rId29"/>
    <p:sldId id="317" r:id="rId30"/>
    <p:sldId id="318" r:id="rId31"/>
    <p:sldId id="319" r:id="rId32"/>
    <p:sldId id="320" r:id="rId33"/>
    <p:sldId id="299" r:id="rId34"/>
    <p:sldId id="300" r:id="rId35"/>
    <p:sldId id="321" r:id="rId36"/>
    <p:sldId id="277" r:id="rId37"/>
    <p:sldId id="278" r:id="rId38"/>
    <p:sldId id="322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E5D0"/>
    <a:srgbClr val="FEF9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029"/>
    <p:restoredTop sz="94721"/>
  </p:normalViewPr>
  <p:slideViewPr>
    <p:cSldViewPr snapToGrid="0">
      <p:cViewPr varScale="1">
        <p:scale>
          <a:sx n="112" d="100"/>
          <a:sy n="112" d="100"/>
        </p:scale>
        <p:origin x="3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4E818F0-7911-41D4-86C9-7B455EAA1592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19CEF4E-2913-4C3E-8424-2CA2FAD4D6F5}">
      <dgm:prSet custT="1"/>
      <dgm:spPr/>
      <dgm:t>
        <a:bodyPr/>
        <a:lstStyle/>
        <a:p>
          <a:r>
            <a:rPr lang="en-US" sz="1200" b="0"/>
            <a:t>AI technology is accelerating fast</a:t>
          </a:r>
        </a:p>
      </dgm:t>
    </dgm:pt>
    <dgm:pt modelId="{A2F93B2F-3449-4F26-BAAA-1753A708C7D8}" type="parTrans" cxnId="{8F2AD065-77C3-448A-A8F3-17EF4741D3F1}">
      <dgm:prSet/>
      <dgm:spPr/>
      <dgm:t>
        <a:bodyPr/>
        <a:lstStyle/>
        <a:p>
          <a:endParaRPr lang="en-US" sz="1100" b="0"/>
        </a:p>
      </dgm:t>
    </dgm:pt>
    <dgm:pt modelId="{472053AA-5767-4ED1-8057-D5525A2DD079}" type="sibTrans" cxnId="{8F2AD065-77C3-448A-A8F3-17EF4741D3F1}">
      <dgm:prSet custT="1"/>
      <dgm:spPr/>
      <dgm:t>
        <a:bodyPr/>
        <a:lstStyle/>
        <a:p>
          <a:endParaRPr lang="en-US" sz="1400" b="0"/>
        </a:p>
      </dgm:t>
    </dgm:pt>
    <dgm:pt modelId="{9555527F-6B8B-4DD9-9881-49953A304B02}">
      <dgm:prSet custT="1"/>
      <dgm:spPr/>
      <dgm:t>
        <a:bodyPr/>
        <a:lstStyle/>
        <a:p>
          <a:r>
            <a:rPr lang="en-US" sz="1200" b="0" dirty="0"/>
            <a:t>Society is much slower to absorb the impact</a:t>
          </a:r>
        </a:p>
      </dgm:t>
    </dgm:pt>
    <dgm:pt modelId="{1815692D-7D34-4AAC-8758-F2A2014E0A48}" type="parTrans" cxnId="{0BA9359A-B4B5-46B6-BE18-25BCE3396FDF}">
      <dgm:prSet/>
      <dgm:spPr/>
      <dgm:t>
        <a:bodyPr/>
        <a:lstStyle/>
        <a:p>
          <a:endParaRPr lang="en-US" sz="1100" b="0"/>
        </a:p>
      </dgm:t>
    </dgm:pt>
    <dgm:pt modelId="{4B0ABE56-B117-403E-8B06-35DE27D8528B}" type="sibTrans" cxnId="{0BA9359A-B4B5-46B6-BE18-25BCE3396FDF}">
      <dgm:prSet custT="1"/>
      <dgm:spPr/>
      <dgm:t>
        <a:bodyPr/>
        <a:lstStyle/>
        <a:p>
          <a:endParaRPr lang="en-US" sz="1400" b="0"/>
        </a:p>
      </dgm:t>
    </dgm:pt>
    <dgm:pt modelId="{3E01E41C-619D-4CFA-825E-2B1FC0C2D107}">
      <dgm:prSet custT="1"/>
      <dgm:spPr/>
      <dgm:t>
        <a:bodyPr/>
        <a:lstStyle/>
        <a:p>
          <a:r>
            <a:rPr lang="en-US" sz="1200" b="0" dirty="0"/>
            <a:t>Pressure to deploy before we know if it is safe</a:t>
          </a:r>
        </a:p>
      </dgm:t>
    </dgm:pt>
    <dgm:pt modelId="{972BF660-3ADF-49A0-987D-941531168ED9}" type="parTrans" cxnId="{38DEAB63-E5A4-4601-B98D-27C2F784021E}">
      <dgm:prSet/>
      <dgm:spPr/>
      <dgm:t>
        <a:bodyPr/>
        <a:lstStyle/>
        <a:p>
          <a:endParaRPr lang="en-US" sz="1100" b="0"/>
        </a:p>
      </dgm:t>
    </dgm:pt>
    <dgm:pt modelId="{88821665-7263-404B-AAA0-E387263E64C6}" type="sibTrans" cxnId="{38DEAB63-E5A4-4601-B98D-27C2F784021E}">
      <dgm:prSet custT="1"/>
      <dgm:spPr/>
      <dgm:t>
        <a:bodyPr/>
        <a:lstStyle/>
        <a:p>
          <a:endParaRPr lang="en-US" sz="1400" b="0"/>
        </a:p>
      </dgm:t>
    </dgm:pt>
    <dgm:pt modelId="{52A62E8B-91AD-43E9-A22C-A12A3F264031}">
      <dgm:prSet custT="1"/>
      <dgm:spPr/>
      <dgm:t>
        <a:bodyPr/>
        <a:lstStyle/>
        <a:p>
          <a:r>
            <a:rPr lang="en-US" sz="1200" b="0" dirty="0"/>
            <a:t>Efficiency rather than effectiveness</a:t>
          </a:r>
        </a:p>
      </dgm:t>
    </dgm:pt>
    <dgm:pt modelId="{AFA6A3DA-F643-4AED-A18F-0EC308334439}" type="parTrans" cxnId="{6493E2A8-056D-4A0C-8264-F7AB9155B3E0}">
      <dgm:prSet/>
      <dgm:spPr/>
      <dgm:t>
        <a:bodyPr/>
        <a:lstStyle/>
        <a:p>
          <a:endParaRPr lang="en-US" sz="1100" b="0"/>
        </a:p>
      </dgm:t>
    </dgm:pt>
    <dgm:pt modelId="{28A7378B-FC2E-4C9C-B7C6-EED8F0C2415F}" type="sibTrans" cxnId="{6493E2A8-056D-4A0C-8264-F7AB9155B3E0}">
      <dgm:prSet/>
      <dgm:spPr/>
      <dgm:t>
        <a:bodyPr/>
        <a:lstStyle/>
        <a:p>
          <a:endParaRPr lang="en-US" sz="1100" b="0"/>
        </a:p>
      </dgm:t>
    </dgm:pt>
    <dgm:pt modelId="{8D6783C8-B50D-6249-9641-59826F320D47}" type="pres">
      <dgm:prSet presAssocID="{24E818F0-7911-41D4-86C9-7B455EAA1592}" presName="outerComposite" presStyleCnt="0">
        <dgm:presLayoutVars>
          <dgm:chMax val="5"/>
          <dgm:dir/>
          <dgm:resizeHandles val="exact"/>
        </dgm:presLayoutVars>
      </dgm:prSet>
      <dgm:spPr/>
    </dgm:pt>
    <dgm:pt modelId="{FFF584DB-2954-544E-94E1-E4C903D19192}" type="pres">
      <dgm:prSet presAssocID="{24E818F0-7911-41D4-86C9-7B455EAA1592}" presName="dummyMaxCanvas" presStyleCnt="0">
        <dgm:presLayoutVars/>
      </dgm:prSet>
      <dgm:spPr/>
    </dgm:pt>
    <dgm:pt modelId="{4172A563-0459-C247-BB6A-B3C656D23AB5}" type="pres">
      <dgm:prSet presAssocID="{24E818F0-7911-41D4-86C9-7B455EAA1592}" presName="FourNodes_1" presStyleLbl="node1" presStyleIdx="0" presStyleCnt="4">
        <dgm:presLayoutVars>
          <dgm:bulletEnabled val="1"/>
        </dgm:presLayoutVars>
      </dgm:prSet>
      <dgm:spPr/>
    </dgm:pt>
    <dgm:pt modelId="{0ADE96DD-48AC-F14F-94C6-88F50E0F2BF0}" type="pres">
      <dgm:prSet presAssocID="{24E818F0-7911-41D4-86C9-7B455EAA1592}" presName="FourNodes_2" presStyleLbl="node1" presStyleIdx="1" presStyleCnt="4">
        <dgm:presLayoutVars>
          <dgm:bulletEnabled val="1"/>
        </dgm:presLayoutVars>
      </dgm:prSet>
      <dgm:spPr/>
    </dgm:pt>
    <dgm:pt modelId="{14019FD6-5DDE-334B-8B24-C944A210C2E5}" type="pres">
      <dgm:prSet presAssocID="{24E818F0-7911-41D4-86C9-7B455EAA1592}" presName="FourNodes_3" presStyleLbl="node1" presStyleIdx="2" presStyleCnt="4">
        <dgm:presLayoutVars>
          <dgm:bulletEnabled val="1"/>
        </dgm:presLayoutVars>
      </dgm:prSet>
      <dgm:spPr/>
    </dgm:pt>
    <dgm:pt modelId="{BB75D24D-7E16-9C42-8A6F-C1A78334F889}" type="pres">
      <dgm:prSet presAssocID="{24E818F0-7911-41D4-86C9-7B455EAA1592}" presName="FourNodes_4" presStyleLbl="node1" presStyleIdx="3" presStyleCnt="4">
        <dgm:presLayoutVars>
          <dgm:bulletEnabled val="1"/>
        </dgm:presLayoutVars>
      </dgm:prSet>
      <dgm:spPr/>
    </dgm:pt>
    <dgm:pt modelId="{9E8039C8-4D30-3A4E-BE3F-43AEBD16E2BC}" type="pres">
      <dgm:prSet presAssocID="{24E818F0-7911-41D4-86C9-7B455EAA1592}" presName="FourConn_1-2" presStyleLbl="fgAccFollowNode1" presStyleIdx="0" presStyleCnt="3">
        <dgm:presLayoutVars>
          <dgm:bulletEnabled val="1"/>
        </dgm:presLayoutVars>
      </dgm:prSet>
      <dgm:spPr/>
    </dgm:pt>
    <dgm:pt modelId="{69F3D235-3492-EF4E-8C95-D027C22CF808}" type="pres">
      <dgm:prSet presAssocID="{24E818F0-7911-41D4-86C9-7B455EAA1592}" presName="FourConn_2-3" presStyleLbl="fgAccFollowNode1" presStyleIdx="1" presStyleCnt="3">
        <dgm:presLayoutVars>
          <dgm:bulletEnabled val="1"/>
        </dgm:presLayoutVars>
      </dgm:prSet>
      <dgm:spPr/>
    </dgm:pt>
    <dgm:pt modelId="{DD53C12D-7CCD-8B43-A56F-8BD6C9EF7F13}" type="pres">
      <dgm:prSet presAssocID="{24E818F0-7911-41D4-86C9-7B455EAA1592}" presName="FourConn_3-4" presStyleLbl="fgAccFollowNode1" presStyleIdx="2" presStyleCnt="3">
        <dgm:presLayoutVars>
          <dgm:bulletEnabled val="1"/>
        </dgm:presLayoutVars>
      </dgm:prSet>
      <dgm:spPr/>
    </dgm:pt>
    <dgm:pt modelId="{CA19D63C-5AEA-AB4F-B09B-A7E41A3F1625}" type="pres">
      <dgm:prSet presAssocID="{24E818F0-7911-41D4-86C9-7B455EAA1592}" presName="FourNodes_1_text" presStyleLbl="node1" presStyleIdx="3" presStyleCnt="4">
        <dgm:presLayoutVars>
          <dgm:bulletEnabled val="1"/>
        </dgm:presLayoutVars>
      </dgm:prSet>
      <dgm:spPr/>
    </dgm:pt>
    <dgm:pt modelId="{2B4758BC-FEE6-054B-90D8-E9311F4CDD6F}" type="pres">
      <dgm:prSet presAssocID="{24E818F0-7911-41D4-86C9-7B455EAA1592}" presName="FourNodes_2_text" presStyleLbl="node1" presStyleIdx="3" presStyleCnt="4">
        <dgm:presLayoutVars>
          <dgm:bulletEnabled val="1"/>
        </dgm:presLayoutVars>
      </dgm:prSet>
      <dgm:spPr/>
    </dgm:pt>
    <dgm:pt modelId="{2B5942AF-FB45-5449-8110-69B132D947F3}" type="pres">
      <dgm:prSet presAssocID="{24E818F0-7911-41D4-86C9-7B455EAA1592}" presName="FourNodes_3_text" presStyleLbl="node1" presStyleIdx="3" presStyleCnt="4">
        <dgm:presLayoutVars>
          <dgm:bulletEnabled val="1"/>
        </dgm:presLayoutVars>
      </dgm:prSet>
      <dgm:spPr/>
    </dgm:pt>
    <dgm:pt modelId="{912C1F74-1D48-C04A-BA0A-AA82BA28BDCB}" type="pres">
      <dgm:prSet presAssocID="{24E818F0-7911-41D4-86C9-7B455EAA1592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6671B52A-D04F-9D42-8DFF-6002A08A9842}" type="presOf" srcId="{24E818F0-7911-41D4-86C9-7B455EAA1592}" destId="{8D6783C8-B50D-6249-9641-59826F320D47}" srcOrd="0" destOrd="0" presId="urn:microsoft.com/office/officeart/2005/8/layout/vProcess5"/>
    <dgm:cxn modelId="{28D0483E-CD79-E446-82D4-BFFEC62F17E5}" type="presOf" srcId="{52A62E8B-91AD-43E9-A22C-A12A3F264031}" destId="{BB75D24D-7E16-9C42-8A6F-C1A78334F889}" srcOrd="0" destOrd="0" presId="urn:microsoft.com/office/officeart/2005/8/layout/vProcess5"/>
    <dgm:cxn modelId="{29020645-E403-9140-998A-B5C7ED10B4B5}" type="presOf" srcId="{472053AA-5767-4ED1-8057-D5525A2DD079}" destId="{9E8039C8-4D30-3A4E-BE3F-43AEBD16E2BC}" srcOrd="0" destOrd="0" presId="urn:microsoft.com/office/officeart/2005/8/layout/vProcess5"/>
    <dgm:cxn modelId="{38DEAB63-E5A4-4601-B98D-27C2F784021E}" srcId="{24E818F0-7911-41D4-86C9-7B455EAA1592}" destId="{3E01E41C-619D-4CFA-825E-2B1FC0C2D107}" srcOrd="2" destOrd="0" parTransId="{972BF660-3ADF-49A0-987D-941531168ED9}" sibTransId="{88821665-7263-404B-AAA0-E387263E64C6}"/>
    <dgm:cxn modelId="{8F2AD065-77C3-448A-A8F3-17EF4741D3F1}" srcId="{24E818F0-7911-41D4-86C9-7B455EAA1592}" destId="{019CEF4E-2913-4C3E-8424-2CA2FAD4D6F5}" srcOrd="0" destOrd="0" parTransId="{A2F93B2F-3449-4F26-BAAA-1753A708C7D8}" sibTransId="{472053AA-5767-4ED1-8057-D5525A2DD079}"/>
    <dgm:cxn modelId="{3A28EF6F-B524-DC40-8CD5-9BED4ED78721}" type="presOf" srcId="{9555527F-6B8B-4DD9-9881-49953A304B02}" destId="{2B4758BC-FEE6-054B-90D8-E9311F4CDD6F}" srcOrd="1" destOrd="0" presId="urn:microsoft.com/office/officeart/2005/8/layout/vProcess5"/>
    <dgm:cxn modelId="{C9468170-E4AE-1E45-9C20-21E7F213DB9B}" type="presOf" srcId="{3E01E41C-619D-4CFA-825E-2B1FC0C2D107}" destId="{14019FD6-5DDE-334B-8B24-C944A210C2E5}" srcOrd="0" destOrd="0" presId="urn:microsoft.com/office/officeart/2005/8/layout/vProcess5"/>
    <dgm:cxn modelId="{9593188C-F052-0D4B-BBB9-227DD96565E4}" type="presOf" srcId="{4B0ABE56-B117-403E-8B06-35DE27D8528B}" destId="{69F3D235-3492-EF4E-8C95-D027C22CF808}" srcOrd="0" destOrd="0" presId="urn:microsoft.com/office/officeart/2005/8/layout/vProcess5"/>
    <dgm:cxn modelId="{0BA9359A-B4B5-46B6-BE18-25BCE3396FDF}" srcId="{24E818F0-7911-41D4-86C9-7B455EAA1592}" destId="{9555527F-6B8B-4DD9-9881-49953A304B02}" srcOrd="1" destOrd="0" parTransId="{1815692D-7D34-4AAC-8758-F2A2014E0A48}" sibTransId="{4B0ABE56-B117-403E-8B06-35DE27D8528B}"/>
    <dgm:cxn modelId="{6493E2A8-056D-4A0C-8264-F7AB9155B3E0}" srcId="{24E818F0-7911-41D4-86C9-7B455EAA1592}" destId="{52A62E8B-91AD-43E9-A22C-A12A3F264031}" srcOrd="3" destOrd="0" parTransId="{AFA6A3DA-F643-4AED-A18F-0EC308334439}" sibTransId="{28A7378B-FC2E-4C9C-B7C6-EED8F0C2415F}"/>
    <dgm:cxn modelId="{400525CC-D67D-D442-BA48-AF260412F320}" type="presOf" srcId="{88821665-7263-404B-AAA0-E387263E64C6}" destId="{DD53C12D-7CCD-8B43-A56F-8BD6C9EF7F13}" srcOrd="0" destOrd="0" presId="urn:microsoft.com/office/officeart/2005/8/layout/vProcess5"/>
    <dgm:cxn modelId="{8C7D62CD-70FE-8840-B0BB-448890CB7248}" type="presOf" srcId="{019CEF4E-2913-4C3E-8424-2CA2FAD4D6F5}" destId="{4172A563-0459-C247-BB6A-B3C656D23AB5}" srcOrd="0" destOrd="0" presId="urn:microsoft.com/office/officeart/2005/8/layout/vProcess5"/>
    <dgm:cxn modelId="{E82674EE-15A5-D042-A79B-5668014BA83D}" type="presOf" srcId="{019CEF4E-2913-4C3E-8424-2CA2FAD4D6F5}" destId="{CA19D63C-5AEA-AB4F-B09B-A7E41A3F1625}" srcOrd="1" destOrd="0" presId="urn:microsoft.com/office/officeart/2005/8/layout/vProcess5"/>
    <dgm:cxn modelId="{CEE56AF2-1DBD-554A-9845-90902FEA5984}" type="presOf" srcId="{3E01E41C-619D-4CFA-825E-2B1FC0C2D107}" destId="{2B5942AF-FB45-5449-8110-69B132D947F3}" srcOrd="1" destOrd="0" presId="urn:microsoft.com/office/officeart/2005/8/layout/vProcess5"/>
    <dgm:cxn modelId="{D257E5FA-538A-4043-9C18-5F74904FC5E5}" type="presOf" srcId="{52A62E8B-91AD-43E9-A22C-A12A3F264031}" destId="{912C1F74-1D48-C04A-BA0A-AA82BA28BDCB}" srcOrd="1" destOrd="0" presId="urn:microsoft.com/office/officeart/2005/8/layout/vProcess5"/>
    <dgm:cxn modelId="{572649FB-0821-1646-B6E4-4B09B383D561}" type="presOf" srcId="{9555527F-6B8B-4DD9-9881-49953A304B02}" destId="{0ADE96DD-48AC-F14F-94C6-88F50E0F2BF0}" srcOrd="0" destOrd="0" presId="urn:microsoft.com/office/officeart/2005/8/layout/vProcess5"/>
    <dgm:cxn modelId="{C57B3AC4-71B4-7A4C-83CC-3B36CA28D65B}" type="presParOf" srcId="{8D6783C8-B50D-6249-9641-59826F320D47}" destId="{FFF584DB-2954-544E-94E1-E4C903D19192}" srcOrd="0" destOrd="0" presId="urn:microsoft.com/office/officeart/2005/8/layout/vProcess5"/>
    <dgm:cxn modelId="{6C948379-CB87-D347-A064-1F2213CA659B}" type="presParOf" srcId="{8D6783C8-B50D-6249-9641-59826F320D47}" destId="{4172A563-0459-C247-BB6A-B3C656D23AB5}" srcOrd="1" destOrd="0" presId="urn:microsoft.com/office/officeart/2005/8/layout/vProcess5"/>
    <dgm:cxn modelId="{FB7D8C6A-90DF-A44B-88D9-D9EB343B2491}" type="presParOf" srcId="{8D6783C8-B50D-6249-9641-59826F320D47}" destId="{0ADE96DD-48AC-F14F-94C6-88F50E0F2BF0}" srcOrd="2" destOrd="0" presId="urn:microsoft.com/office/officeart/2005/8/layout/vProcess5"/>
    <dgm:cxn modelId="{C22A7C6D-A020-9942-BF9A-71A94C5607AC}" type="presParOf" srcId="{8D6783C8-B50D-6249-9641-59826F320D47}" destId="{14019FD6-5DDE-334B-8B24-C944A210C2E5}" srcOrd="3" destOrd="0" presId="urn:microsoft.com/office/officeart/2005/8/layout/vProcess5"/>
    <dgm:cxn modelId="{98E1EE5F-A1F0-D645-A373-9232D680C921}" type="presParOf" srcId="{8D6783C8-B50D-6249-9641-59826F320D47}" destId="{BB75D24D-7E16-9C42-8A6F-C1A78334F889}" srcOrd="4" destOrd="0" presId="urn:microsoft.com/office/officeart/2005/8/layout/vProcess5"/>
    <dgm:cxn modelId="{22374A36-DB28-B84B-9553-01BDD0D4EC29}" type="presParOf" srcId="{8D6783C8-B50D-6249-9641-59826F320D47}" destId="{9E8039C8-4D30-3A4E-BE3F-43AEBD16E2BC}" srcOrd="5" destOrd="0" presId="urn:microsoft.com/office/officeart/2005/8/layout/vProcess5"/>
    <dgm:cxn modelId="{66E29CDB-ACFF-2F48-AB30-AE6D2EC333E1}" type="presParOf" srcId="{8D6783C8-B50D-6249-9641-59826F320D47}" destId="{69F3D235-3492-EF4E-8C95-D027C22CF808}" srcOrd="6" destOrd="0" presId="urn:microsoft.com/office/officeart/2005/8/layout/vProcess5"/>
    <dgm:cxn modelId="{3012F074-DD60-4F48-BEFF-524417E0430B}" type="presParOf" srcId="{8D6783C8-B50D-6249-9641-59826F320D47}" destId="{DD53C12D-7CCD-8B43-A56F-8BD6C9EF7F13}" srcOrd="7" destOrd="0" presId="urn:microsoft.com/office/officeart/2005/8/layout/vProcess5"/>
    <dgm:cxn modelId="{CEFA5B8C-EAD0-5245-BA50-C6AB76D2A130}" type="presParOf" srcId="{8D6783C8-B50D-6249-9641-59826F320D47}" destId="{CA19D63C-5AEA-AB4F-B09B-A7E41A3F1625}" srcOrd="8" destOrd="0" presId="urn:microsoft.com/office/officeart/2005/8/layout/vProcess5"/>
    <dgm:cxn modelId="{B94D50B2-FA72-7146-85CC-4B193F40DD00}" type="presParOf" srcId="{8D6783C8-B50D-6249-9641-59826F320D47}" destId="{2B4758BC-FEE6-054B-90D8-E9311F4CDD6F}" srcOrd="9" destOrd="0" presId="urn:microsoft.com/office/officeart/2005/8/layout/vProcess5"/>
    <dgm:cxn modelId="{4B301D85-9A14-474F-B509-CA3990BFA5FF}" type="presParOf" srcId="{8D6783C8-B50D-6249-9641-59826F320D47}" destId="{2B5942AF-FB45-5449-8110-69B132D947F3}" srcOrd="10" destOrd="0" presId="urn:microsoft.com/office/officeart/2005/8/layout/vProcess5"/>
    <dgm:cxn modelId="{FF0809A1-425C-394A-A28C-1F71904A270E}" type="presParOf" srcId="{8D6783C8-B50D-6249-9641-59826F320D47}" destId="{912C1F74-1D48-C04A-BA0A-AA82BA28BDCB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F12205F-DDDC-400F-95EC-DCB710581E17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77F0AB0-B26D-4260-A8F6-E8172B22B4A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Fill in one sentence: </a:t>
          </a:r>
          <a:br>
            <a:rPr lang="en-US" dirty="0"/>
          </a:br>
          <a:endParaRPr lang="en-US" dirty="0"/>
        </a:p>
        <a:p>
          <a:pPr>
            <a:lnSpc>
              <a:spcPct val="100000"/>
            </a:lnSpc>
          </a:pPr>
          <a:r>
            <a:rPr lang="en-US" dirty="0"/>
            <a:t>“We are building __________ so that __________ can __________.” </a:t>
          </a:r>
          <a:br>
            <a:rPr lang="en-US" dirty="0"/>
          </a:br>
          <a:br>
            <a:rPr lang="en-US" dirty="0"/>
          </a:br>
          <a:endParaRPr lang="en-US" dirty="0"/>
        </a:p>
      </dgm:t>
    </dgm:pt>
    <dgm:pt modelId="{74E37602-B365-448A-A38F-047DAFBDC9E3}" type="parTrans" cxnId="{49A6D777-C5B6-42BF-81CB-1FC7ABF8A3F1}">
      <dgm:prSet/>
      <dgm:spPr/>
      <dgm:t>
        <a:bodyPr/>
        <a:lstStyle/>
        <a:p>
          <a:endParaRPr lang="en-US"/>
        </a:p>
      </dgm:t>
    </dgm:pt>
    <dgm:pt modelId="{1A5F1A4C-870B-402D-B5C8-53C720E39EE1}" type="sibTrans" cxnId="{49A6D777-C5B6-42BF-81CB-1FC7ABF8A3F1}">
      <dgm:prSet/>
      <dgm:spPr/>
      <dgm:t>
        <a:bodyPr/>
        <a:lstStyle/>
        <a:p>
          <a:endParaRPr lang="en-US"/>
        </a:p>
      </dgm:t>
    </dgm:pt>
    <dgm:pt modelId="{5D0E2AD5-ED52-485B-A456-D9911FAB25A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This locks the work to a human need, not just an efficiency target.</a:t>
          </a:r>
        </a:p>
      </dgm:t>
    </dgm:pt>
    <dgm:pt modelId="{3AC893E7-3D60-4D1B-A9BC-B1DFE38B198A}" type="parTrans" cxnId="{F2D7B16A-0C96-4443-AB46-1894E4CB6AF9}">
      <dgm:prSet/>
      <dgm:spPr/>
      <dgm:t>
        <a:bodyPr/>
        <a:lstStyle/>
        <a:p>
          <a:endParaRPr lang="en-US"/>
        </a:p>
      </dgm:t>
    </dgm:pt>
    <dgm:pt modelId="{EA2A21FB-BEF9-41EC-BA19-F608F897706D}" type="sibTrans" cxnId="{F2D7B16A-0C96-4443-AB46-1894E4CB6AF9}">
      <dgm:prSet/>
      <dgm:spPr/>
      <dgm:t>
        <a:bodyPr/>
        <a:lstStyle/>
        <a:p>
          <a:endParaRPr lang="en-US"/>
        </a:p>
      </dgm:t>
    </dgm:pt>
    <dgm:pt modelId="{9FE6561A-BC2A-476A-AFFB-D5F3FDCABD3B}" type="pres">
      <dgm:prSet presAssocID="{1F12205F-DDDC-400F-95EC-DCB710581E17}" presName="root" presStyleCnt="0">
        <dgm:presLayoutVars>
          <dgm:dir/>
          <dgm:resizeHandles val="exact"/>
        </dgm:presLayoutVars>
      </dgm:prSet>
      <dgm:spPr/>
    </dgm:pt>
    <dgm:pt modelId="{F48747C0-7C60-41E3-8E4D-E24745FD13B8}" type="pres">
      <dgm:prSet presAssocID="{977F0AB0-B26D-4260-A8F6-E8172B22B4A3}" presName="compNode" presStyleCnt="0"/>
      <dgm:spPr/>
    </dgm:pt>
    <dgm:pt modelId="{448DA704-B7D8-41D8-A6EA-B9E55B6719FD}" type="pres">
      <dgm:prSet presAssocID="{977F0AB0-B26D-4260-A8F6-E8172B22B4A3}" presName="bgRect" presStyleLbl="bgShp" presStyleIdx="0" presStyleCnt="2"/>
      <dgm:spPr/>
    </dgm:pt>
    <dgm:pt modelId="{C9F1A797-29E8-4CAD-A3E1-FEF07EC3012A}" type="pres">
      <dgm:prSet presAssocID="{977F0AB0-B26D-4260-A8F6-E8172B22B4A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Quotes"/>
        </a:ext>
      </dgm:extLst>
    </dgm:pt>
    <dgm:pt modelId="{828994C2-1567-4BDD-8945-BEC449DC965D}" type="pres">
      <dgm:prSet presAssocID="{977F0AB0-B26D-4260-A8F6-E8172B22B4A3}" presName="spaceRect" presStyleCnt="0"/>
      <dgm:spPr/>
    </dgm:pt>
    <dgm:pt modelId="{104FE2D6-85D0-4924-A727-06388FCF45E2}" type="pres">
      <dgm:prSet presAssocID="{977F0AB0-B26D-4260-A8F6-E8172B22B4A3}" presName="parTx" presStyleLbl="revTx" presStyleIdx="0" presStyleCnt="2" custScaleX="102296">
        <dgm:presLayoutVars>
          <dgm:chMax val="0"/>
          <dgm:chPref val="0"/>
        </dgm:presLayoutVars>
      </dgm:prSet>
      <dgm:spPr/>
    </dgm:pt>
    <dgm:pt modelId="{87F858C3-9813-4F85-863E-25D8244701BD}" type="pres">
      <dgm:prSet presAssocID="{1A5F1A4C-870B-402D-B5C8-53C720E39EE1}" presName="sibTrans" presStyleCnt="0"/>
      <dgm:spPr/>
    </dgm:pt>
    <dgm:pt modelId="{4E26A535-6558-4EA9-A6F6-D8AEE2DDA4A2}" type="pres">
      <dgm:prSet presAssocID="{5D0E2AD5-ED52-485B-A456-D9911FAB25A5}" presName="compNode" presStyleCnt="0"/>
      <dgm:spPr/>
    </dgm:pt>
    <dgm:pt modelId="{CF47034C-BE18-4184-BB25-D96AFC7475BC}" type="pres">
      <dgm:prSet presAssocID="{5D0E2AD5-ED52-485B-A456-D9911FAB25A5}" presName="bgRect" presStyleLbl="bgShp" presStyleIdx="1" presStyleCnt="2"/>
      <dgm:spPr/>
    </dgm:pt>
    <dgm:pt modelId="{728F77DE-0123-467F-9518-AF7C700450E7}" type="pres">
      <dgm:prSet presAssocID="{5D0E2AD5-ED52-485B-A456-D9911FAB25A5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E15F18B4-B632-4B96-BEED-261DA85CB284}" type="pres">
      <dgm:prSet presAssocID="{5D0E2AD5-ED52-485B-A456-D9911FAB25A5}" presName="spaceRect" presStyleCnt="0"/>
      <dgm:spPr/>
    </dgm:pt>
    <dgm:pt modelId="{DC9A8BAF-0101-496E-9C3E-D1D3D06D9268}" type="pres">
      <dgm:prSet presAssocID="{5D0E2AD5-ED52-485B-A456-D9911FAB25A5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12A35126-36E3-484E-BD94-AF0759C0839D}" type="presOf" srcId="{1F12205F-DDDC-400F-95EC-DCB710581E17}" destId="{9FE6561A-BC2A-476A-AFFB-D5F3FDCABD3B}" srcOrd="0" destOrd="0" presId="urn:microsoft.com/office/officeart/2018/2/layout/IconVerticalSolidList"/>
    <dgm:cxn modelId="{F2D7B16A-0C96-4443-AB46-1894E4CB6AF9}" srcId="{1F12205F-DDDC-400F-95EC-DCB710581E17}" destId="{5D0E2AD5-ED52-485B-A456-D9911FAB25A5}" srcOrd="1" destOrd="0" parTransId="{3AC893E7-3D60-4D1B-A9BC-B1DFE38B198A}" sibTransId="{EA2A21FB-BEF9-41EC-BA19-F608F897706D}"/>
    <dgm:cxn modelId="{49A6D777-C5B6-42BF-81CB-1FC7ABF8A3F1}" srcId="{1F12205F-DDDC-400F-95EC-DCB710581E17}" destId="{977F0AB0-B26D-4260-A8F6-E8172B22B4A3}" srcOrd="0" destOrd="0" parTransId="{74E37602-B365-448A-A38F-047DAFBDC9E3}" sibTransId="{1A5F1A4C-870B-402D-B5C8-53C720E39EE1}"/>
    <dgm:cxn modelId="{27507A85-8366-4ECF-8353-1C0D21DEECEF}" type="presOf" srcId="{977F0AB0-B26D-4260-A8F6-E8172B22B4A3}" destId="{104FE2D6-85D0-4924-A727-06388FCF45E2}" srcOrd="0" destOrd="0" presId="urn:microsoft.com/office/officeart/2018/2/layout/IconVerticalSolidList"/>
    <dgm:cxn modelId="{DD1C53D1-4A22-403C-9AAB-2625AFA1A5E8}" type="presOf" srcId="{5D0E2AD5-ED52-485B-A456-D9911FAB25A5}" destId="{DC9A8BAF-0101-496E-9C3E-D1D3D06D9268}" srcOrd="0" destOrd="0" presId="urn:microsoft.com/office/officeart/2018/2/layout/IconVerticalSolidList"/>
    <dgm:cxn modelId="{303548F4-7228-416E-9E21-E7A68502B6D2}" type="presParOf" srcId="{9FE6561A-BC2A-476A-AFFB-D5F3FDCABD3B}" destId="{F48747C0-7C60-41E3-8E4D-E24745FD13B8}" srcOrd="0" destOrd="0" presId="urn:microsoft.com/office/officeart/2018/2/layout/IconVerticalSolidList"/>
    <dgm:cxn modelId="{C30E126F-1905-4483-A265-DD918A53A50D}" type="presParOf" srcId="{F48747C0-7C60-41E3-8E4D-E24745FD13B8}" destId="{448DA704-B7D8-41D8-A6EA-B9E55B6719FD}" srcOrd="0" destOrd="0" presId="urn:microsoft.com/office/officeart/2018/2/layout/IconVerticalSolidList"/>
    <dgm:cxn modelId="{02B79FCC-5E37-4008-BFAD-86A7D350F607}" type="presParOf" srcId="{F48747C0-7C60-41E3-8E4D-E24745FD13B8}" destId="{C9F1A797-29E8-4CAD-A3E1-FEF07EC3012A}" srcOrd="1" destOrd="0" presId="urn:microsoft.com/office/officeart/2018/2/layout/IconVerticalSolidList"/>
    <dgm:cxn modelId="{92200B17-1FC6-4051-98D6-8DAEE13AA23D}" type="presParOf" srcId="{F48747C0-7C60-41E3-8E4D-E24745FD13B8}" destId="{828994C2-1567-4BDD-8945-BEC449DC965D}" srcOrd="2" destOrd="0" presId="urn:microsoft.com/office/officeart/2018/2/layout/IconVerticalSolidList"/>
    <dgm:cxn modelId="{17B9D4BA-A386-473E-9573-8A2A9CCDDF24}" type="presParOf" srcId="{F48747C0-7C60-41E3-8E4D-E24745FD13B8}" destId="{104FE2D6-85D0-4924-A727-06388FCF45E2}" srcOrd="3" destOrd="0" presId="urn:microsoft.com/office/officeart/2018/2/layout/IconVerticalSolidList"/>
    <dgm:cxn modelId="{64FE78FD-22D9-4D57-B2BB-F765E7DA5576}" type="presParOf" srcId="{9FE6561A-BC2A-476A-AFFB-D5F3FDCABD3B}" destId="{87F858C3-9813-4F85-863E-25D8244701BD}" srcOrd="1" destOrd="0" presId="urn:microsoft.com/office/officeart/2018/2/layout/IconVerticalSolidList"/>
    <dgm:cxn modelId="{217CDB42-1388-4B56-9B42-F35243BA6E32}" type="presParOf" srcId="{9FE6561A-BC2A-476A-AFFB-D5F3FDCABD3B}" destId="{4E26A535-6558-4EA9-A6F6-D8AEE2DDA4A2}" srcOrd="2" destOrd="0" presId="urn:microsoft.com/office/officeart/2018/2/layout/IconVerticalSolidList"/>
    <dgm:cxn modelId="{70BA0120-95A1-4C91-9AD6-4236A2F0AEC6}" type="presParOf" srcId="{4E26A535-6558-4EA9-A6F6-D8AEE2DDA4A2}" destId="{CF47034C-BE18-4184-BB25-D96AFC7475BC}" srcOrd="0" destOrd="0" presId="urn:microsoft.com/office/officeart/2018/2/layout/IconVerticalSolidList"/>
    <dgm:cxn modelId="{3E407A7A-E860-4375-AA92-A3A1DB49B85A}" type="presParOf" srcId="{4E26A535-6558-4EA9-A6F6-D8AEE2DDA4A2}" destId="{728F77DE-0123-467F-9518-AF7C700450E7}" srcOrd="1" destOrd="0" presId="urn:microsoft.com/office/officeart/2018/2/layout/IconVerticalSolidList"/>
    <dgm:cxn modelId="{6E537179-ACC9-469C-A8D7-13BBFBAD3CAC}" type="presParOf" srcId="{4E26A535-6558-4EA9-A6F6-D8AEE2DDA4A2}" destId="{E15F18B4-B632-4B96-BEED-261DA85CB284}" srcOrd="2" destOrd="0" presId="urn:microsoft.com/office/officeart/2018/2/layout/IconVerticalSolidList"/>
    <dgm:cxn modelId="{7EA0E6A0-A0DD-4511-BCEC-FE8DEDA7C9AF}" type="presParOf" srcId="{4E26A535-6558-4EA9-A6F6-D8AEE2DDA4A2}" destId="{DC9A8BAF-0101-496E-9C3E-D1D3D06D926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1F8CC43-2659-4216-A35D-483F84E25255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803A758-972A-4D43-898C-3D18F12D5B93}">
      <dgm:prSet/>
      <dgm:spPr/>
      <dgm:t>
        <a:bodyPr/>
        <a:lstStyle/>
        <a:p>
          <a:r>
            <a:rPr lang="en-US"/>
            <a:t>For each of the eight points, mark: </a:t>
          </a:r>
        </a:p>
      </dgm:t>
    </dgm:pt>
    <dgm:pt modelId="{A39759A4-3D51-4A5B-81FA-841DDFD2B995}" type="parTrans" cxnId="{88B7E627-CBC4-49FD-93C6-712BC4B35630}">
      <dgm:prSet/>
      <dgm:spPr/>
      <dgm:t>
        <a:bodyPr/>
        <a:lstStyle/>
        <a:p>
          <a:endParaRPr lang="en-US"/>
        </a:p>
      </dgm:t>
    </dgm:pt>
    <dgm:pt modelId="{48EB20CA-7D8C-4625-9294-F26356DE2AF3}" type="sibTrans" cxnId="{88B7E627-CBC4-49FD-93C6-712BC4B35630}">
      <dgm:prSet/>
      <dgm:spPr/>
      <dgm:t>
        <a:bodyPr/>
        <a:lstStyle/>
        <a:p>
          <a:endParaRPr lang="en-US"/>
        </a:p>
      </dgm:t>
    </dgm:pt>
    <dgm:pt modelId="{0F5AD7A1-4D7F-45B4-B28A-6C6A060C045D}">
      <dgm:prSet/>
      <dgm:spPr/>
      <dgm:t>
        <a:bodyPr/>
        <a:lstStyle/>
        <a:p>
          <a:r>
            <a:rPr lang="en-US" dirty="0"/>
            <a:t>Green = clear and acceptable </a:t>
          </a:r>
        </a:p>
      </dgm:t>
    </dgm:pt>
    <dgm:pt modelId="{19C1C086-6943-41CF-A1A7-AA8E432D21DB}" type="parTrans" cxnId="{E18AC0FE-2918-4044-834A-91627A890DDF}">
      <dgm:prSet/>
      <dgm:spPr/>
      <dgm:t>
        <a:bodyPr/>
        <a:lstStyle/>
        <a:p>
          <a:endParaRPr lang="en-US"/>
        </a:p>
      </dgm:t>
    </dgm:pt>
    <dgm:pt modelId="{90560F93-20A5-4B8E-AE01-70FA654BB782}" type="sibTrans" cxnId="{E18AC0FE-2918-4044-834A-91627A890DDF}">
      <dgm:prSet/>
      <dgm:spPr/>
      <dgm:t>
        <a:bodyPr/>
        <a:lstStyle/>
        <a:p>
          <a:endParaRPr lang="en-US"/>
        </a:p>
      </dgm:t>
    </dgm:pt>
    <dgm:pt modelId="{DDD0F28B-CDC1-489C-B395-CBD3EF002222}">
      <dgm:prSet/>
      <dgm:spPr/>
      <dgm:t>
        <a:bodyPr/>
        <a:lstStyle/>
        <a:p>
          <a:r>
            <a:rPr lang="en-US"/>
            <a:t>Yellow = needs work </a:t>
          </a:r>
        </a:p>
      </dgm:t>
    </dgm:pt>
    <dgm:pt modelId="{89EA5184-002D-4E96-A872-7C059D4AADD5}" type="parTrans" cxnId="{A98D50DB-4959-48B9-BF3D-E19E84B65C22}">
      <dgm:prSet/>
      <dgm:spPr/>
      <dgm:t>
        <a:bodyPr/>
        <a:lstStyle/>
        <a:p>
          <a:endParaRPr lang="en-US"/>
        </a:p>
      </dgm:t>
    </dgm:pt>
    <dgm:pt modelId="{F53C2142-CCDA-4360-A60E-22FD7883559A}" type="sibTrans" cxnId="{A98D50DB-4959-48B9-BF3D-E19E84B65C22}">
      <dgm:prSet/>
      <dgm:spPr/>
      <dgm:t>
        <a:bodyPr/>
        <a:lstStyle/>
        <a:p>
          <a:endParaRPr lang="en-US"/>
        </a:p>
      </dgm:t>
    </dgm:pt>
    <dgm:pt modelId="{31278BCF-9D29-4B1D-991B-05E83292AA18}">
      <dgm:prSet/>
      <dgm:spPr/>
      <dgm:t>
        <a:bodyPr/>
        <a:lstStyle/>
        <a:p>
          <a:r>
            <a:rPr lang="en-US"/>
            <a:t>Red = unsafe / unclear / not acceptable</a:t>
          </a:r>
        </a:p>
      </dgm:t>
    </dgm:pt>
    <dgm:pt modelId="{05CC07E4-AC75-4B99-86B5-5E34141B6DC9}" type="parTrans" cxnId="{F68A470D-D058-4465-88EB-647247C6EF83}">
      <dgm:prSet/>
      <dgm:spPr/>
      <dgm:t>
        <a:bodyPr/>
        <a:lstStyle/>
        <a:p>
          <a:endParaRPr lang="en-US"/>
        </a:p>
      </dgm:t>
    </dgm:pt>
    <dgm:pt modelId="{786ABE38-F300-415A-BBE9-926A16412CCA}" type="sibTrans" cxnId="{F68A470D-D058-4465-88EB-647247C6EF83}">
      <dgm:prSet/>
      <dgm:spPr/>
      <dgm:t>
        <a:bodyPr/>
        <a:lstStyle/>
        <a:p>
          <a:endParaRPr lang="en-US"/>
        </a:p>
      </dgm:t>
    </dgm:pt>
    <dgm:pt modelId="{ED76D84A-1745-45E1-8E48-7D2FAAC0ED18}">
      <dgm:prSet/>
      <dgm:spPr/>
      <dgm:t>
        <a:bodyPr/>
        <a:lstStyle/>
        <a:p>
          <a:r>
            <a:rPr lang="en-US"/>
            <a:t>Rule: If any point is Red, you do not ship. </a:t>
          </a:r>
        </a:p>
      </dgm:t>
    </dgm:pt>
    <dgm:pt modelId="{48D23915-E731-405F-AD19-CF0BFCCD6310}" type="parTrans" cxnId="{AC5FB93C-BDE1-4D59-9633-C3A57E9377F6}">
      <dgm:prSet/>
      <dgm:spPr/>
      <dgm:t>
        <a:bodyPr/>
        <a:lstStyle/>
        <a:p>
          <a:endParaRPr lang="en-US"/>
        </a:p>
      </dgm:t>
    </dgm:pt>
    <dgm:pt modelId="{E0B9C062-FC86-47F1-B09E-B21E8FFBE18F}" type="sibTrans" cxnId="{AC5FB93C-BDE1-4D59-9633-C3A57E9377F6}">
      <dgm:prSet/>
      <dgm:spPr/>
      <dgm:t>
        <a:bodyPr/>
        <a:lstStyle/>
        <a:p>
          <a:endParaRPr lang="en-US"/>
        </a:p>
      </dgm:t>
    </dgm:pt>
    <dgm:pt modelId="{7AA7B1DF-1E03-E447-BED3-A0C96CB8DBFA}" type="pres">
      <dgm:prSet presAssocID="{A1F8CC43-2659-4216-A35D-483F84E25255}" presName="linear" presStyleCnt="0">
        <dgm:presLayoutVars>
          <dgm:dir/>
          <dgm:animLvl val="lvl"/>
          <dgm:resizeHandles val="exact"/>
        </dgm:presLayoutVars>
      </dgm:prSet>
      <dgm:spPr/>
    </dgm:pt>
    <dgm:pt modelId="{41A60338-1AB0-704A-A2DF-30DF773DD6EF}" type="pres">
      <dgm:prSet presAssocID="{C803A758-972A-4D43-898C-3D18F12D5B93}" presName="parentLin" presStyleCnt="0"/>
      <dgm:spPr/>
    </dgm:pt>
    <dgm:pt modelId="{8F075D8C-2E3A-DF4B-8433-58A1D4AD0587}" type="pres">
      <dgm:prSet presAssocID="{C803A758-972A-4D43-898C-3D18F12D5B93}" presName="parentLeftMargin" presStyleLbl="node1" presStyleIdx="0" presStyleCnt="2"/>
      <dgm:spPr/>
    </dgm:pt>
    <dgm:pt modelId="{32F3B040-B8EB-B14F-BDA9-38C72A328023}" type="pres">
      <dgm:prSet presAssocID="{C803A758-972A-4D43-898C-3D18F12D5B9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20001F9-0A05-744F-98C7-89804EBAC42F}" type="pres">
      <dgm:prSet presAssocID="{C803A758-972A-4D43-898C-3D18F12D5B93}" presName="negativeSpace" presStyleCnt="0"/>
      <dgm:spPr/>
    </dgm:pt>
    <dgm:pt modelId="{73713B8D-AB4B-324E-98B7-ECCBA0BD39C7}" type="pres">
      <dgm:prSet presAssocID="{C803A758-972A-4D43-898C-3D18F12D5B93}" presName="childText" presStyleLbl="conFgAcc1" presStyleIdx="0" presStyleCnt="2">
        <dgm:presLayoutVars>
          <dgm:bulletEnabled val="1"/>
        </dgm:presLayoutVars>
      </dgm:prSet>
      <dgm:spPr/>
    </dgm:pt>
    <dgm:pt modelId="{2E543BB7-77C4-324B-A111-454AA5EDDC8A}" type="pres">
      <dgm:prSet presAssocID="{48EB20CA-7D8C-4625-9294-F26356DE2AF3}" presName="spaceBetweenRectangles" presStyleCnt="0"/>
      <dgm:spPr/>
    </dgm:pt>
    <dgm:pt modelId="{F8228356-DC0F-7243-8F0A-F1B1955F3DED}" type="pres">
      <dgm:prSet presAssocID="{ED76D84A-1745-45E1-8E48-7D2FAAC0ED18}" presName="parentLin" presStyleCnt="0"/>
      <dgm:spPr/>
    </dgm:pt>
    <dgm:pt modelId="{21645EF9-5674-974F-B2BC-C8522FE55D84}" type="pres">
      <dgm:prSet presAssocID="{ED76D84A-1745-45E1-8E48-7D2FAAC0ED18}" presName="parentLeftMargin" presStyleLbl="node1" presStyleIdx="0" presStyleCnt="2"/>
      <dgm:spPr/>
    </dgm:pt>
    <dgm:pt modelId="{72E0A9CF-A265-6543-9573-7958AEACB527}" type="pres">
      <dgm:prSet presAssocID="{ED76D84A-1745-45E1-8E48-7D2FAAC0ED18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A1A7717D-4173-B74F-8821-3FBD0A261D66}" type="pres">
      <dgm:prSet presAssocID="{ED76D84A-1745-45E1-8E48-7D2FAAC0ED18}" presName="negativeSpace" presStyleCnt="0"/>
      <dgm:spPr/>
    </dgm:pt>
    <dgm:pt modelId="{AA933EEF-2F8F-704A-9CF6-C2145476801C}" type="pres">
      <dgm:prSet presAssocID="{ED76D84A-1745-45E1-8E48-7D2FAAC0ED18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F68A470D-D058-4465-88EB-647247C6EF83}" srcId="{C803A758-972A-4D43-898C-3D18F12D5B93}" destId="{31278BCF-9D29-4B1D-991B-05E83292AA18}" srcOrd="2" destOrd="0" parTransId="{05CC07E4-AC75-4B99-86B5-5E34141B6DC9}" sibTransId="{786ABE38-F300-415A-BBE9-926A16412CCA}"/>
    <dgm:cxn modelId="{5A5D9C16-A4AB-8841-9B23-72A262F363F7}" type="presOf" srcId="{C803A758-972A-4D43-898C-3D18F12D5B93}" destId="{32F3B040-B8EB-B14F-BDA9-38C72A328023}" srcOrd="1" destOrd="0" presId="urn:microsoft.com/office/officeart/2005/8/layout/list1"/>
    <dgm:cxn modelId="{88B7E627-CBC4-49FD-93C6-712BC4B35630}" srcId="{A1F8CC43-2659-4216-A35D-483F84E25255}" destId="{C803A758-972A-4D43-898C-3D18F12D5B93}" srcOrd="0" destOrd="0" parTransId="{A39759A4-3D51-4A5B-81FA-841DDFD2B995}" sibTransId="{48EB20CA-7D8C-4625-9294-F26356DE2AF3}"/>
    <dgm:cxn modelId="{AC5FB93C-BDE1-4D59-9633-C3A57E9377F6}" srcId="{A1F8CC43-2659-4216-A35D-483F84E25255}" destId="{ED76D84A-1745-45E1-8E48-7D2FAAC0ED18}" srcOrd="1" destOrd="0" parTransId="{48D23915-E731-405F-AD19-CF0BFCCD6310}" sibTransId="{E0B9C062-FC86-47F1-B09E-B21E8FFBE18F}"/>
    <dgm:cxn modelId="{F04BB07C-B7C6-A94E-8870-5B423CF86C83}" type="presOf" srcId="{A1F8CC43-2659-4216-A35D-483F84E25255}" destId="{7AA7B1DF-1E03-E447-BED3-A0C96CB8DBFA}" srcOrd="0" destOrd="0" presId="urn:microsoft.com/office/officeart/2005/8/layout/list1"/>
    <dgm:cxn modelId="{C74EA787-0EBF-374C-B059-2154B98A3BC4}" type="presOf" srcId="{0F5AD7A1-4D7F-45B4-B28A-6C6A060C045D}" destId="{73713B8D-AB4B-324E-98B7-ECCBA0BD39C7}" srcOrd="0" destOrd="0" presId="urn:microsoft.com/office/officeart/2005/8/layout/list1"/>
    <dgm:cxn modelId="{715B4EB0-74A1-0843-9516-8009C270AE31}" type="presOf" srcId="{31278BCF-9D29-4B1D-991B-05E83292AA18}" destId="{73713B8D-AB4B-324E-98B7-ECCBA0BD39C7}" srcOrd="0" destOrd="2" presId="urn:microsoft.com/office/officeart/2005/8/layout/list1"/>
    <dgm:cxn modelId="{1A3525C4-2D51-FD44-A4AE-8A4517285877}" type="presOf" srcId="{C803A758-972A-4D43-898C-3D18F12D5B93}" destId="{8F075D8C-2E3A-DF4B-8433-58A1D4AD0587}" srcOrd="0" destOrd="0" presId="urn:microsoft.com/office/officeart/2005/8/layout/list1"/>
    <dgm:cxn modelId="{CC52DDC4-9C8C-8D4D-81FB-14E0091BF8CA}" type="presOf" srcId="{ED76D84A-1745-45E1-8E48-7D2FAAC0ED18}" destId="{21645EF9-5674-974F-B2BC-C8522FE55D84}" srcOrd="0" destOrd="0" presId="urn:microsoft.com/office/officeart/2005/8/layout/list1"/>
    <dgm:cxn modelId="{7D0B7FD5-8693-7044-835E-83BEC3C83A7A}" type="presOf" srcId="{ED76D84A-1745-45E1-8E48-7D2FAAC0ED18}" destId="{72E0A9CF-A265-6543-9573-7958AEACB527}" srcOrd="1" destOrd="0" presId="urn:microsoft.com/office/officeart/2005/8/layout/list1"/>
    <dgm:cxn modelId="{A98D50DB-4959-48B9-BF3D-E19E84B65C22}" srcId="{C803A758-972A-4D43-898C-3D18F12D5B93}" destId="{DDD0F28B-CDC1-489C-B395-CBD3EF002222}" srcOrd="1" destOrd="0" parTransId="{89EA5184-002D-4E96-A872-7C059D4AADD5}" sibTransId="{F53C2142-CCDA-4360-A60E-22FD7883559A}"/>
    <dgm:cxn modelId="{3AAB35F7-F5D1-F24F-B334-06BFD3567A2C}" type="presOf" srcId="{DDD0F28B-CDC1-489C-B395-CBD3EF002222}" destId="{73713B8D-AB4B-324E-98B7-ECCBA0BD39C7}" srcOrd="0" destOrd="1" presId="urn:microsoft.com/office/officeart/2005/8/layout/list1"/>
    <dgm:cxn modelId="{E18AC0FE-2918-4044-834A-91627A890DDF}" srcId="{C803A758-972A-4D43-898C-3D18F12D5B93}" destId="{0F5AD7A1-4D7F-45B4-B28A-6C6A060C045D}" srcOrd="0" destOrd="0" parTransId="{19C1C086-6943-41CF-A1A7-AA8E432D21DB}" sibTransId="{90560F93-20A5-4B8E-AE01-70FA654BB782}"/>
    <dgm:cxn modelId="{BCEC57C7-0D75-1A4C-8929-9AFC71429091}" type="presParOf" srcId="{7AA7B1DF-1E03-E447-BED3-A0C96CB8DBFA}" destId="{41A60338-1AB0-704A-A2DF-30DF773DD6EF}" srcOrd="0" destOrd="0" presId="urn:microsoft.com/office/officeart/2005/8/layout/list1"/>
    <dgm:cxn modelId="{6543BA46-5EA9-2B42-BCC5-7D78D5596637}" type="presParOf" srcId="{41A60338-1AB0-704A-A2DF-30DF773DD6EF}" destId="{8F075D8C-2E3A-DF4B-8433-58A1D4AD0587}" srcOrd="0" destOrd="0" presId="urn:microsoft.com/office/officeart/2005/8/layout/list1"/>
    <dgm:cxn modelId="{CF19385B-B831-EB41-BD5D-832BA297D50C}" type="presParOf" srcId="{41A60338-1AB0-704A-A2DF-30DF773DD6EF}" destId="{32F3B040-B8EB-B14F-BDA9-38C72A328023}" srcOrd="1" destOrd="0" presId="urn:microsoft.com/office/officeart/2005/8/layout/list1"/>
    <dgm:cxn modelId="{543883F6-8DC7-2642-ACA3-F7B8BB767F51}" type="presParOf" srcId="{7AA7B1DF-1E03-E447-BED3-A0C96CB8DBFA}" destId="{B20001F9-0A05-744F-98C7-89804EBAC42F}" srcOrd="1" destOrd="0" presId="urn:microsoft.com/office/officeart/2005/8/layout/list1"/>
    <dgm:cxn modelId="{81D76992-817E-2D49-B83D-E553FFDCA15B}" type="presParOf" srcId="{7AA7B1DF-1E03-E447-BED3-A0C96CB8DBFA}" destId="{73713B8D-AB4B-324E-98B7-ECCBA0BD39C7}" srcOrd="2" destOrd="0" presId="urn:microsoft.com/office/officeart/2005/8/layout/list1"/>
    <dgm:cxn modelId="{201006E6-334D-4F40-A3FC-5E7AFAFF8CBE}" type="presParOf" srcId="{7AA7B1DF-1E03-E447-BED3-A0C96CB8DBFA}" destId="{2E543BB7-77C4-324B-A111-454AA5EDDC8A}" srcOrd="3" destOrd="0" presId="urn:microsoft.com/office/officeart/2005/8/layout/list1"/>
    <dgm:cxn modelId="{382BC294-C7D7-F04E-AE61-92D60010FED4}" type="presParOf" srcId="{7AA7B1DF-1E03-E447-BED3-A0C96CB8DBFA}" destId="{F8228356-DC0F-7243-8F0A-F1B1955F3DED}" srcOrd="4" destOrd="0" presId="urn:microsoft.com/office/officeart/2005/8/layout/list1"/>
    <dgm:cxn modelId="{2C568C2C-B04F-CB44-974B-8B8680E7CDF8}" type="presParOf" srcId="{F8228356-DC0F-7243-8F0A-F1B1955F3DED}" destId="{21645EF9-5674-974F-B2BC-C8522FE55D84}" srcOrd="0" destOrd="0" presId="urn:microsoft.com/office/officeart/2005/8/layout/list1"/>
    <dgm:cxn modelId="{B872EEA4-D577-9643-B1ED-8AEC227059BC}" type="presParOf" srcId="{F8228356-DC0F-7243-8F0A-F1B1955F3DED}" destId="{72E0A9CF-A265-6543-9573-7958AEACB527}" srcOrd="1" destOrd="0" presId="urn:microsoft.com/office/officeart/2005/8/layout/list1"/>
    <dgm:cxn modelId="{CC112AB4-887E-E646-8AA0-82F559E3FF88}" type="presParOf" srcId="{7AA7B1DF-1E03-E447-BED3-A0C96CB8DBFA}" destId="{A1A7717D-4173-B74F-8821-3FBD0A261D66}" srcOrd="5" destOrd="0" presId="urn:microsoft.com/office/officeart/2005/8/layout/list1"/>
    <dgm:cxn modelId="{05AFFF43-B63E-CB40-8DD4-E8BD63F56DAA}" type="presParOf" srcId="{7AA7B1DF-1E03-E447-BED3-A0C96CB8DBFA}" destId="{AA933EEF-2F8F-704A-9CF6-C2145476801C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72A563-0459-C247-BB6A-B3C656D23AB5}">
      <dsp:nvSpPr>
        <dsp:cNvPr id="0" name=""/>
        <dsp:cNvSpPr/>
      </dsp:nvSpPr>
      <dsp:spPr>
        <a:xfrm>
          <a:off x="0" y="0"/>
          <a:ext cx="4789090" cy="7693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/>
            <a:t>AI technology is accelerating fast</a:t>
          </a:r>
        </a:p>
      </dsp:txBody>
      <dsp:txXfrm>
        <a:off x="22532" y="22532"/>
        <a:ext cx="3893935" cy="724249"/>
      </dsp:txXfrm>
    </dsp:sp>
    <dsp:sp modelId="{0ADE96DD-48AC-F14F-94C6-88F50E0F2BF0}">
      <dsp:nvSpPr>
        <dsp:cNvPr id="0" name=""/>
        <dsp:cNvSpPr/>
      </dsp:nvSpPr>
      <dsp:spPr>
        <a:xfrm>
          <a:off x="401086" y="909188"/>
          <a:ext cx="4789090" cy="7693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 dirty="0"/>
            <a:t>Society is much slower to absorb the impact</a:t>
          </a:r>
        </a:p>
      </dsp:txBody>
      <dsp:txXfrm>
        <a:off x="423618" y="931720"/>
        <a:ext cx="3842886" cy="724249"/>
      </dsp:txXfrm>
    </dsp:sp>
    <dsp:sp modelId="{14019FD6-5DDE-334B-8B24-C944A210C2E5}">
      <dsp:nvSpPr>
        <dsp:cNvPr id="0" name=""/>
        <dsp:cNvSpPr/>
      </dsp:nvSpPr>
      <dsp:spPr>
        <a:xfrm>
          <a:off x="796186" y="1818376"/>
          <a:ext cx="4789090" cy="7693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 dirty="0"/>
            <a:t>Pressure to deploy before we know if it is safe</a:t>
          </a:r>
        </a:p>
      </dsp:txBody>
      <dsp:txXfrm>
        <a:off x="818718" y="1840908"/>
        <a:ext cx="3848872" cy="724249"/>
      </dsp:txXfrm>
    </dsp:sp>
    <dsp:sp modelId="{BB75D24D-7E16-9C42-8A6F-C1A78334F889}">
      <dsp:nvSpPr>
        <dsp:cNvPr id="0" name=""/>
        <dsp:cNvSpPr/>
      </dsp:nvSpPr>
      <dsp:spPr>
        <a:xfrm>
          <a:off x="1197272" y="2727564"/>
          <a:ext cx="4789090" cy="7693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 dirty="0"/>
            <a:t>Efficiency rather than effectiveness</a:t>
          </a:r>
        </a:p>
      </dsp:txBody>
      <dsp:txXfrm>
        <a:off x="1219804" y="2750096"/>
        <a:ext cx="3842886" cy="724249"/>
      </dsp:txXfrm>
    </dsp:sp>
    <dsp:sp modelId="{9E8039C8-4D30-3A4E-BE3F-43AEBD16E2BC}">
      <dsp:nvSpPr>
        <dsp:cNvPr id="0" name=""/>
        <dsp:cNvSpPr/>
      </dsp:nvSpPr>
      <dsp:spPr>
        <a:xfrm>
          <a:off x="4289036" y="589223"/>
          <a:ext cx="500053" cy="500053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0" kern="1200"/>
        </a:p>
      </dsp:txBody>
      <dsp:txXfrm>
        <a:off x="4401548" y="589223"/>
        <a:ext cx="275029" cy="376290"/>
      </dsp:txXfrm>
    </dsp:sp>
    <dsp:sp modelId="{69F3D235-3492-EF4E-8C95-D027C22CF808}">
      <dsp:nvSpPr>
        <dsp:cNvPr id="0" name=""/>
        <dsp:cNvSpPr/>
      </dsp:nvSpPr>
      <dsp:spPr>
        <a:xfrm>
          <a:off x="4690123" y="1498412"/>
          <a:ext cx="500053" cy="500053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0" kern="1200"/>
        </a:p>
      </dsp:txBody>
      <dsp:txXfrm>
        <a:off x="4802635" y="1498412"/>
        <a:ext cx="275029" cy="376290"/>
      </dsp:txXfrm>
    </dsp:sp>
    <dsp:sp modelId="{DD53C12D-7CCD-8B43-A56F-8BD6C9EF7F13}">
      <dsp:nvSpPr>
        <dsp:cNvPr id="0" name=""/>
        <dsp:cNvSpPr/>
      </dsp:nvSpPr>
      <dsp:spPr>
        <a:xfrm>
          <a:off x="5085223" y="2407600"/>
          <a:ext cx="500053" cy="500053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0" kern="1200"/>
        </a:p>
      </dsp:txBody>
      <dsp:txXfrm>
        <a:off x="5197735" y="2407600"/>
        <a:ext cx="275029" cy="37629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8DA704-B7D8-41D8-A6EA-B9E55B6719FD}">
      <dsp:nvSpPr>
        <dsp:cNvPr id="0" name=""/>
        <dsp:cNvSpPr/>
      </dsp:nvSpPr>
      <dsp:spPr>
        <a:xfrm>
          <a:off x="0" y="3154"/>
          <a:ext cx="5559726" cy="125361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F1A797-29E8-4CAD-A3E1-FEF07EC3012A}">
      <dsp:nvSpPr>
        <dsp:cNvPr id="0" name=""/>
        <dsp:cNvSpPr/>
      </dsp:nvSpPr>
      <dsp:spPr>
        <a:xfrm>
          <a:off x="379218" y="285217"/>
          <a:ext cx="689487" cy="6894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4FE2D6-85D0-4924-A727-06388FCF45E2}">
      <dsp:nvSpPr>
        <dsp:cNvPr id="0" name=""/>
        <dsp:cNvSpPr/>
      </dsp:nvSpPr>
      <dsp:spPr>
        <a:xfrm>
          <a:off x="1402174" y="3154"/>
          <a:ext cx="4076709" cy="14823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880" tIns="156880" rIns="156880" bIns="15688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Fill in one sentence: </a:t>
          </a:r>
          <a:br>
            <a:rPr lang="en-US" sz="1400" kern="1200" dirty="0"/>
          </a:br>
          <a:endParaRPr lang="en-US" sz="1400" kern="1200" dirty="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“We are building __________ so that __________ can __________.” </a:t>
          </a:r>
          <a:br>
            <a:rPr lang="en-US" sz="1400" kern="1200" dirty="0"/>
          </a:br>
          <a:br>
            <a:rPr lang="en-US" sz="1400" kern="1200" dirty="0"/>
          </a:br>
          <a:endParaRPr lang="en-US" sz="1400" kern="1200" dirty="0"/>
        </a:p>
      </dsp:txBody>
      <dsp:txXfrm>
        <a:off x="1402174" y="3154"/>
        <a:ext cx="4076709" cy="1482333"/>
      </dsp:txXfrm>
    </dsp:sp>
    <dsp:sp modelId="{CF47034C-BE18-4184-BB25-D96AFC7475BC}">
      <dsp:nvSpPr>
        <dsp:cNvPr id="0" name=""/>
        <dsp:cNvSpPr/>
      </dsp:nvSpPr>
      <dsp:spPr>
        <a:xfrm>
          <a:off x="0" y="1686482"/>
          <a:ext cx="5559726" cy="125361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8F77DE-0123-467F-9518-AF7C700450E7}">
      <dsp:nvSpPr>
        <dsp:cNvPr id="0" name=""/>
        <dsp:cNvSpPr/>
      </dsp:nvSpPr>
      <dsp:spPr>
        <a:xfrm>
          <a:off x="379218" y="1968545"/>
          <a:ext cx="689487" cy="6894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9A8BAF-0101-496E-9C3E-D1D3D06D9268}">
      <dsp:nvSpPr>
        <dsp:cNvPr id="0" name=""/>
        <dsp:cNvSpPr/>
      </dsp:nvSpPr>
      <dsp:spPr>
        <a:xfrm>
          <a:off x="1447924" y="1686482"/>
          <a:ext cx="3985208" cy="14823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880" tIns="156880" rIns="156880" bIns="15688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This locks the work to a human need, not just an efficiency target.</a:t>
          </a:r>
        </a:p>
      </dsp:txBody>
      <dsp:txXfrm>
        <a:off x="1447924" y="1686482"/>
        <a:ext cx="3985208" cy="148233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713B8D-AB4B-324E-98B7-ECCBA0BD39C7}">
      <dsp:nvSpPr>
        <dsp:cNvPr id="0" name=""/>
        <dsp:cNvSpPr/>
      </dsp:nvSpPr>
      <dsp:spPr>
        <a:xfrm>
          <a:off x="0" y="736385"/>
          <a:ext cx="5524556" cy="12095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8767" tIns="333248" rIns="428767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Green = clear and acceptable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Yellow = needs work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Red = unsafe / unclear / not acceptable</a:t>
          </a:r>
        </a:p>
      </dsp:txBody>
      <dsp:txXfrm>
        <a:off x="0" y="736385"/>
        <a:ext cx="5524556" cy="1209599"/>
      </dsp:txXfrm>
    </dsp:sp>
    <dsp:sp modelId="{32F3B040-B8EB-B14F-BDA9-38C72A328023}">
      <dsp:nvSpPr>
        <dsp:cNvPr id="0" name=""/>
        <dsp:cNvSpPr/>
      </dsp:nvSpPr>
      <dsp:spPr>
        <a:xfrm>
          <a:off x="276227" y="500225"/>
          <a:ext cx="3867189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171" tIns="0" rIns="146171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For each of the eight points, mark: </a:t>
          </a:r>
        </a:p>
      </dsp:txBody>
      <dsp:txXfrm>
        <a:off x="299284" y="523282"/>
        <a:ext cx="3821075" cy="426206"/>
      </dsp:txXfrm>
    </dsp:sp>
    <dsp:sp modelId="{AA933EEF-2F8F-704A-9CF6-C2145476801C}">
      <dsp:nvSpPr>
        <dsp:cNvPr id="0" name=""/>
        <dsp:cNvSpPr/>
      </dsp:nvSpPr>
      <dsp:spPr>
        <a:xfrm>
          <a:off x="0" y="2268545"/>
          <a:ext cx="5524556" cy="4031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E0A9CF-A265-6543-9573-7958AEACB527}">
      <dsp:nvSpPr>
        <dsp:cNvPr id="0" name=""/>
        <dsp:cNvSpPr/>
      </dsp:nvSpPr>
      <dsp:spPr>
        <a:xfrm>
          <a:off x="276227" y="2032385"/>
          <a:ext cx="3867189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171" tIns="0" rIns="146171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Rule: If any point is Red, you do not ship. </a:t>
          </a:r>
        </a:p>
      </dsp:txBody>
      <dsp:txXfrm>
        <a:off x="299284" y="2055442"/>
        <a:ext cx="3821075" cy="4262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6F4A8B-B411-134B-974D-D36B020857A3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F4E140-71CD-0745-A567-F52E5C626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95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0F6AD-FD86-C74A-B570-31C5E6017482}" type="datetime1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Itamar Shabtai, 2025, Claremont Graduate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D48CA-1F6B-9B4C-BBB3-FE6E7DC569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242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7838C-C936-FC45-92A4-68C8E424AC9C}" type="datetime1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Itamar Shabtai, 2025, Claremont Graduate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D48CA-1F6B-9B4C-BBB3-FE6E7DC569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700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3ED36-F59B-E446-9EAF-053631B5B507}" type="datetime1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Itamar Shabtai, 2025, Claremont Graduate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D48CA-1F6B-9B4C-BBB3-FE6E7DC569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628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F0A4A-BE33-8042-ABB8-D41E2C248F49}" type="datetime1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Itamar Shabtai, 2025, Claremont Graduate University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D48CA-1F6B-9B4C-BBB3-FE6E7DC569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076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52359-7F39-CF45-9F8E-B9554D41BC39}" type="datetime1">
              <a:rPr lang="en-US" smtClean="0"/>
              <a:t>11/20/25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Itamar Shabtai, 2025, Claremont Graduate University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D48CA-1F6B-9B4C-BBB3-FE6E7DC569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500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9FC5E-8452-E74A-8F26-A4E4112AF834}" type="datetime1">
              <a:rPr lang="en-US" smtClean="0"/>
              <a:t>11/20/25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Itamar Shabtai, 2025, Claremont Graduate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D48CA-1F6B-9B4C-BBB3-FE6E7DC569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832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83C15-196A-4B4D-BD68-B4B01041034A}" type="datetime1">
              <a:rPr lang="en-US" smtClean="0"/>
              <a:t>11/20/25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Itamar Shabtai, 2025, Claremont Graduate University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D48CA-1F6B-9B4C-BBB3-FE6E7DC569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717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F2C0F-FB45-8246-BDC3-8B46CBEBBE1E}" type="datetime1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Itamar Shabtai, 2025, Claremont Graduate University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D48CA-1F6B-9B4C-BBB3-FE6E7DC569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489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34A8F-75AA-3F42-99B5-780BB73A4735}" type="datetime1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Itamar Shabtai, 2025, Claremont Graduate University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D48CA-1F6B-9B4C-BBB3-FE6E7DC569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811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78A03-EAA3-F349-AC85-9E8C697257E7}" type="datetime1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Itamar Shabtai, 2025, Claremont Graduate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D48CA-1F6B-9B4C-BBB3-FE6E7DC569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54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7BC0E-9A18-7044-A7DD-A74E7AEEA9DD}" type="datetime1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Itamar Shabtai, 2025, Claremont Graduate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D48CA-1F6B-9B4C-BBB3-FE6E7DC569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60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48038E-F163-BE4E-8D30-F268B5E93C29}" type="datetime1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© Itamar Shabtai, 2025, Claremont Graduate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FD48CA-1F6B-9B4C-BBB3-FE6E7DC569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908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3.emf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diagramLayout" Target="../diagrams/layout3.xml"/><Relationship Id="rId7" Type="http://schemas.openxmlformats.org/officeDocument/2006/relationships/image" Target="../media/image3.emf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B299CAB-C506-454B-90FC-406572829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8D99311-F254-40F1-8AB5-EE3E7B9B6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17585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E1D8F-8FC7-5A92-4EAD-54EE47A863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6054" y="1070149"/>
            <a:ext cx="8959893" cy="100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AI for Humanity Seminar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89E3CB-00ED-4691-9F0F-F23EA3564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016" y="2444376"/>
            <a:ext cx="10824184" cy="3727824"/>
          </a:xfrm>
          <a:prstGeom prst="rect">
            <a:avLst/>
          </a:prstGeom>
          <a:solidFill>
            <a:schemeClr val="accent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513142-C54A-36DF-6833-4A7F24F460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16054" y="2768321"/>
            <a:ext cx="8959892" cy="282854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7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Macnica</a:t>
            </a:r>
            <a:endParaRPr lang="en-US" sz="17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10.31.2025</a:t>
            </a:r>
          </a:p>
          <a:p>
            <a:endParaRPr lang="en-US" sz="17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Dr. Itamar Shabtai</a:t>
            </a:r>
          </a:p>
          <a:p>
            <a:r>
              <a:rPr lang="en-US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Director, Center for Information Systems and Technology</a:t>
            </a:r>
          </a:p>
          <a:p>
            <a:r>
              <a:rPr lang="en-US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Director, AI for Humanity Lab</a:t>
            </a:r>
            <a:br>
              <a:rPr lang="en-US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endParaRPr lang="en-US" sz="17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B1DCAE-FA3C-3561-168D-70E5E5363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Itamar Shabtai, 2025, Claremont Graduate University</a:t>
            </a:r>
          </a:p>
        </p:txBody>
      </p:sp>
    </p:spTree>
    <p:extLst>
      <p:ext uri="{BB962C8B-B14F-4D97-AF65-F5344CB8AC3E}">
        <p14:creationId xmlns:p14="http://schemas.microsoft.com/office/powerpoint/2010/main" val="1819918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077352-7C21-DA06-D4D7-91931BD84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A robot using a laptop sitting on a blue chair">
            <a:extLst>
              <a:ext uri="{FF2B5EF4-FFF2-40B4-BE49-F238E27FC236}">
                <a16:creationId xmlns:a16="http://schemas.microsoft.com/office/drawing/2014/main" id="{65E33A84-794F-D530-3A19-6CD9594B6F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123" r="502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2BB322-4434-1D9F-79CD-9E7ED466D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8614" y="405685"/>
            <a:ext cx="5464968" cy="1559301"/>
          </a:xfrm>
        </p:spPr>
        <p:txBody>
          <a:bodyPr>
            <a:normAutofit/>
          </a:bodyPr>
          <a:lstStyle/>
          <a:p>
            <a:r>
              <a:rPr lang="en-US" sz="4000" b="1"/>
              <a:t>A Growing Gap</a:t>
            </a:r>
          </a:p>
        </p:txBody>
      </p:sp>
      <p:graphicFrame>
        <p:nvGraphicFramePr>
          <p:cNvPr id="24" name="Content Placeholder 2">
            <a:extLst>
              <a:ext uri="{FF2B5EF4-FFF2-40B4-BE49-F238E27FC236}">
                <a16:creationId xmlns:a16="http://schemas.microsoft.com/office/drawing/2014/main" id="{1D20118A-A3CB-B7FC-5CAF-1FD87F678A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3134011"/>
              </p:ext>
            </p:extLst>
          </p:nvPr>
        </p:nvGraphicFramePr>
        <p:xfrm>
          <a:off x="5807916" y="2549751"/>
          <a:ext cx="5986363" cy="34968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211A21E-44EE-FBE5-3B4D-5143797D91ED}"/>
              </a:ext>
            </a:extLst>
          </p:cNvPr>
          <p:cNvSpPr txBox="1"/>
          <p:nvPr/>
        </p:nvSpPr>
        <p:spPr>
          <a:xfrm>
            <a:off x="5668106" y="6273225"/>
            <a:ext cx="62659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600" b="1" i="1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“Management is doing things right; leadership is doing the right things”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b="1" i="1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Peter Drucker</a:t>
            </a:r>
            <a:r>
              <a:rPr lang="en-US" sz="1600" dirty="0">
                <a:effectLst/>
              </a:rPr>
              <a:t> 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449898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D57C2A-C9E2-B6C4-9CC0-839229B85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D9D7D-92B3-5BCA-E956-6E686C3D6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43486"/>
            <a:ext cx="4267200" cy="1437406"/>
          </a:xfrm>
        </p:spPr>
        <p:txBody>
          <a:bodyPr anchor="t">
            <a:normAutofit/>
          </a:bodyPr>
          <a:lstStyle/>
          <a:p>
            <a:r>
              <a:rPr lang="en-US" sz="3200" b="1" dirty="0"/>
              <a:t>What Gets Missed?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7C77032-C865-6057-7D7A-E2743CFA20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2BB79-54A9-6C95-85D6-56065F382F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8753" y="681872"/>
            <a:ext cx="5501247" cy="18663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700" dirty="0"/>
              <a:t>1. </a:t>
            </a:r>
            <a:r>
              <a:rPr lang="en-US" sz="1700" b="1" dirty="0"/>
              <a:t>Human impact is unclear</a:t>
            </a:r>
            <a:endParaRPr lang="en-US" sz="1700" dirty="0"/>
          </a:p>
          <a:p>
            <a:pPr marL="0" indent="0">
              <a:buNone/>
            </a:pPr>
            <a:r>
              <a:rPr lang="en-US" sz="1700" dirty="0"/>
              <a:t>2. </a:t>
            </a:r>
            <a:r>
              <a:rPr lang="en-US" sz="1700" b="1" dirty="0"/>
              <a:t>Values are not operational</a:t>
            </a:r>
            <a:endParaRPr lang="en-US" sz="1700" dirty="0"/>
          </a:p>
          <a:p>
            <a:pPr marL="0" indent="0">
              <a:buNone/>
            </a:pPr>
            <a:r>
              <a:rPr lang="en-US" sz="1700" dirty="0"/>
              <a:t>3. </a:t>
            </a:r>
            <a:r>
              <a:rPr lang="en-US" sz="1700" b="1" dirty="0"/>
              <a:t>No safety gates</a:t>
            </a:r>
            <a:endParaRPr lang="en-US" sz="1700" dirty="0"/>
          </a:p>
          <a:p>
            <a:pPr marL="0" indent="0">
              <a:buNone/>
            </a:pPr>
            <a:r>
              <a:rPr lang="en-US" sz="1700" dirty="0"/>
              <a:t>4. </a:t>
            </a:r>
            <a:r>
              <a:rPr lang="en-US" sz="1700" b="1" dirty="0"/>
              <a:t>No dignity check</a:t>
            </a:r>
            <a:endParaRPr lang="en-US" sz="1700" dirty="0"/>
          </a:p>
          <a:p>
            <a:pPr marL="0" indent="0">
              <a:buNone/>
            </a:pPr>
            <a:r>
              <a:rPr lang="en-US" sz="1700" dirty="0"/>
              <a:t>5. </a:t>
            </a:r>
            <a:r>
              <a:rPr lang="en-US" sz="1700" b="1" dirty="0"/>
              <a:t>Unprepared humans-in-the-loop</a:t>
            </a:r>
            <a:endParaRPr lang="en-US" sz="17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C57135-953C-DFFB-F686-BFB0E5B4C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rgbClr val="FFFFFF"/>
                </a:solidFill>
              </a:rPr>
              <a:t>© Itamar Shabtai, 2025, Claremont Graduate University</a:t>
            </a:r>
          </a:p>
        </p:txBody>
      </p:sp>
      <p:pic>
        <p:nvPicPr>
          <p:cNvPr id="7" name="Picture 6" descr="A close up of a hand&#10;&#10;AI-generated content may be incorrect.">
            <a:extLst>
              <a:ext uri="{FF2B5EF4-FFF2-40B4-BE49-F238E27FC236}">
                <a16:creationId xmlns:a16="http://schemas.microsoft.com/office/drawing/2014/main" id="{0A0661AE-7916-F768-3E82-9EC5E7A59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380" y="3240586"/>
            <a:ext cx="11649239" cy="3298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88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B299CAB-C506-454B-90FC-406572829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D99311-F254-40F1-8AB5-EE3E7B9B6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17585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D805A7-CA6A-387E-DF1E-788E6D7ED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054" y="1070149"/>
            <a:ext cx="8959893" cy="1004836"/>
          </a:xfrm>
        </p:spPr>
        <p:txBody>
          <a:bodyPr anchor="ctr">
            <a:normAutofit/>
          </a:bodyPr>
          <a:lstStyle/>
          <a:p>
            <a:pPr algn="ctr"/>
            <a:r>
              <a:rPr lang="en-US" sz="3600" b="1" dirty="0">
                <a:solidFill>
                  <a:srgbClr val="595959"/>
                </a:solidFill>
              </a:rPr>
              <a:t>AI for Humanity Compass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89E3CB-00ED-4691-9F0F-F23EA3564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016" y="2444376"/>
            <a:ext cx="10824184" cy="3727824"/>
          </a:xfrm>
          <a:prstGeom prst="rect">
            <a:avLst/>
          </a:prstGeom>
          <a:solidFill>
            <a:schemeClr val="accent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3CC8D-F176-B380-D71C-54EAB764BA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0208" y="2958086"/>
            <a:ext cx="8959892" cy="2828543"/>
          </a:xfrm>
        </p:spPr>
        <p:txBody>
          <a:bodyPr anchor="t">
            <a:normAutofit/>
          </a:bodyPr>
          <a:lstStyle/>
          <a:p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decision tool 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for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AI projects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</a:t>
            </a:r>
          </a:p>
          <a:p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To keep every AI initiative aligned with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human dignity, safety, and well-being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  <a:p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Before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launch,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during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deployment, and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after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it is live.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 </a:t>
            </a: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3571DA-DC0A-3F4A-C71B-0091AF8AA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Itamar Shabtai, 2025, Claremont Graduate University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A08BAC-0A0A-4D50-61EC-2DCC766DD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1702" y="4291077"/>
            <a:ext cx="2366590" cy="1688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586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8DDA986-B6EE-4642-AC60-0490373E6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B62878-12EF-4E97-A284-47BAFC30D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79188D-1ED5-4705-B8C7-5D6FB7670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5514" y="685800"/>
            <a:ext cx="10800972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7D47A-11DE-4677-A36A-A16C19996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053" y="965679"/>
            <a:ext cx="8959893" cy="590911"/>
          </a:xfrm>
        </p:spPr>
        <p:txBody>
          <a:bodyPr anchor="b">
            <a:normAutofit/>
          </a:bodyPr>
          <a:lstStyle/>
          <a:p>
            <a:pPr algn="ctr"/>
            <a:r>
              <a:rPr lang="en-US" sz="3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8 Essential Questions</a:t>
            </a:r>
            <a:r>
              <a:rPr 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 </a:t>
            </a:r>
            <a:endParaRPr lang="en-US" sz="3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43FF9-F9DA-96FA-0B8B-DB50582D79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6054" y="2427383"/>
            <a:ext cx="8959892" cy="3169482"/>
          </a:xfrm>
        </p:spPr>
        <p:txBody>
          <a:bodyPr anchor="t">
            <a:normAutofit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US" sz="1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 we </a:t>
            </a:r>
            <a:r>
              <a:rPr lang="en-US" sz="19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solving a real human need</a:t>
            </a:r>
            <a:r>
              <a:rPr lang="en-US" sz="1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?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19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Who benefits </a:t>
            </a:r>
            <a:r>
              <a:rPr lang="en-US" sz="1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and who could </a:t>
            </a:r>
            <a:r>
              <a:rPr lang="en-US" sz="19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be harmed</a:t>
            </a:r>
            <a:r>
              <a:rPr lang="en-US" sz="1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?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1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 we living our </a:t>
            </a:r>
            <a:r>
              <a:rPr lang="en-US" sz="19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values</a:t>
            </a:r>
            <a:r>
              <a:rPr lang="en-US" sz="1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in the design?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1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Where can things go wrong, and how are we preventing that?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1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Where does a real human stay in control?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1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 we respecting privacy and data boundaries?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1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What good are we trying to create for people, the organization, and society?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How will we measure trust, fairness, and well-being over time?</a:t>
            </a:r>
            <a:r>
              <a:rPr lang="en-US" sz="19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 </a:t>
            </a:r>
            <a:endParaRPr lang="en-US" sz="19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5A15B2-6F90-8E6C-E19A-1BE27395D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Itamar Shabtai, 2025, Claremont Graduate University</a:t>
            </a:r>
          </a:p>
        </p:txBody>
      </p:sp>
    </p:spTree>
    <p:extLst>
      <p:ext uri="{BB962C8B-B14F-4D97-AF65-F5344CB8AC3E}">
        <p14:creationId xmlns:p14="http://schemas.microsoft.com/office/powerpoint/2010/main" val="4265934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108EEA-C6C1-20F7-BF98-54B40346B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CE0A68D-28EF-49D9-B84B-5DAB387149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E04316-2B4C-4881-A8C7-FF43013A9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890" y="254190"/>
            <a:ext cx="6907237" cy="1354505"/>
          </a:xfrm>
        </p:spPr>
        <p:txBody>
          <a:bodyPr anchor="t">
            <a:normAutofit/>
          </a:bodyPr>
          <a:lstStyle/>
          <a:p>
            <a:pPr algn="ctr"/>
            <a:r>
              <a:rPr lang="en-US" sz="3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AI for Humanity Compass</a:t>
            </a:r>
            <a:br>
              <a:rPr lang="en-US" sz="27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 decision tool to orient AI initiatives </a:t>
            </a:r>
            <a:b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toward human value, safety, and trust</a:t>
            </a:r>
            <a:endParaRPr lang="en-US" sz="27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AFAEE35-0DCA-254C-C47E-EC5EDDA70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082" y="1490973"/>
            <a:ext cx="6820487" cy="486577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1FA0C3DC-24DE-44E3-9D41-CAA5F3B20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16208" y="0"/>
            <a:ext cx="4775791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0D516-3E2A-7B69-DD40-CABE90AC91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3354" y="1552222"/>
            <a:ext cx="2951872" cy="3631520"/>
          </a:xfrm>
        </p:spPr>
        <p:txBody>
          <a:bodyPr anchor="ctr">
            <a:normAutofit/>
          </a:bodyPr>
          <a:lstStyle/>
          <a:p>
            <a:pPr marL="0" lvl="0" indent="0">
              <a:buNone/>
            </a:pPr>
            <a:r>
              <a:rPr lang="en-US" sz="1600" dirty="0">
                <a:solidFill>
                  <a:srgbClr val="595959"/>
                </a:solidFill>
              </a:rPr>
              <a:t>N</a:t>
            </a:r>
            <a:r>
              <a:rPr lang="en-US" sz="1600" b="1" dirty="0">
                <a:solidFill>
                  <a:srgbClr val="595959"/>
                </a:solidFill>
              </a:rPr>
              <a:t> – Purpose</a:t>
            </a:r>
          </a:p>
          <a:p>
            <a:pPr marL="0" lvl="0" indent="0">
              <a:buNone/>
            </a:pPr>
            <a:r>
              <a:rPr lang="en-US" sz="1600" dirty="0">
                <a:solidFill>
                  <a:srgbClr val="595959"/>
                </a:solidFill>
              </a:rPr>
              <a:t>NE</a:t>
            </a:r>
            <a:r>
              <a:rPr lang="en-US" sz="1600" b="1" dirty="0">
                <a:solidFill>
                  <a:srgbClr val="595959"/>
                </a:solidFill>
              </a:rPr>
              <a:t> – People</a:t>
            </a:r>
            <a:endParaRPr lang="en-US" sz="1600" dirty="0">
              <a:solidFill>
                <a:srgbClr val="595959"/>
              </a:solidFill>
            </a:endParaRPr>
          </a:p>
          <a:p>
            <a:pPr marL="0" lvl="0" indent="0">
              <a:buNone/>
            </a:pPr>
            <a:r>
              <a:rPr lang="en-US" sz="1600" dirty="0">
                <a:solidFill>
                  <a:srgbClr val="595959"/>
                </a:solidFill>
              </a:rPr>
              <a:t>E</a:t>
            </a:r>
            <a:r>
              <a:rPr lang="en-US" sz="1600" b="1" dirty="0">
                <a:solidFill>
                  <a:srgbClr val="595959"/>
                </a:solidFill>
              </a:rPr>
              <a:t> – Values</a:t>
            </a:r>
          </a:p>
          <a:p>
            <a:pPr marL="0" lvl="0" indent="0">
              <a:buNone/>
            </a:pPr>
            <a:r>
              <a:rPr lang="en-US" sz="1600" dirty="0">
                <a:solidFill>
                  <a:srgbClr val="595959"/>
                </a:solidFill>
              </a:rPr>
              <a:t>SE</a:t>
            </a:r>
            <a:r>
              <a:rPr lang="en-US" sz="1600" b="1" dirty="0">
                <a:solidFill>
                  <a:srgbClr val="595959"/>
                </a:solidFill>
              </a:rPr>
              <a:t> – Risks</a:t>
            </a:r>
          </a:p>
          <a:p>
            <a:pPr marL="0" lvl="0" indent="0">
              <a:buNone/>
            </a:pPr>
            <a:r>
              <a:rPr lang="en-US" sz="1600" dirty="0">
                <a:solidFill>
                  <a:srgbClr val="595959"/>
                </a:solidFill>
              </a:rPr>
              <a:t>S</a:t>
            </a:r>
            <a:r>
              <a:rPr lang="en-US" sz="1600" b="1" dirty="0">
                <a:solidFill>
                  <a:srgbClr val="595959"/>
                </a:solidFill>
              </a:rPr>
              <a:t> – Human-in-the-Loop</a:t>
            </a:r>
          </a:p>
          <a:p>
            <a:pPr marL="0" lvl="0" indent="0">
              <a:buNone/>
            </a:pPr>
            <a:r>
              <a:rPr lang="en-US" sz="1600" dirty="0">
                <a:solidFill>
                  <a:srgbClr val="595959"/>
                </a:solidFill>
              </a:rPr>
              <a:t>SW</a:t>
            </a:r>
            <a:r>
              <a:rPr lang="en-US" sz="1600" b="1" dirty="0">
                <a:solidFill>
                  <a:srgbClr val="595959"/>
                </a:solidFill>
              </a:rPr>
              <a:t> – Data &amp; Privacy</a:t>
            </a:r>
          </a:p>
          <a:p>
            <a:pPr marL="0" lvl="0" indent="0">
              <a:buNone/>
            </a:pPr>
            <a:r>
              <a:rPr lang="en-US" sz="1600" dirty="0">
                <a:solidFill>
                  <a:srgbClr val="595959"/>
                </a:solidFill>
              </a:rPr>
              <a:t>W</a:t>
            </a:r>
            <a:r>
              <a:rPr lang="en-US" sz="1600" b="1" dirty="0">
                <a:solidFill>
                  <a:srgbClr val="595959"/>
                </a:solidFill>
              </a:rPr>
              <a:t> – Outcomes</a:t>
            </a:r>
          </a:p>
          <a:p>
            <a:pPr marL="0" lvl="0" indent="0">
              <a:buNone/>
            </a:pPr>
            <a:r>
              <a:rPr lang="en-US" sz="1600" dirty="0">
                <a:solidFill>
                  <a:srgbClr val="595959"/>
                </a:solidFill>
              </a:rPr>
              <a:t>NW</a:t>
            </a:r>
            <a:r>
              <a:rPr lang="en-US" sz="1600" b="1" dirty="0">
                <a:solidFill>
                  <a:srgbClr val="595959"/>
                </a:solidFill>
              </a:rPr>
              <a:t> – Metrics of Humanity</a:t>
            </a:r>
            <a:endParaRPr lang="en-US" sz="1600" dirty="0">
              <a:solidFill>
                <a:srgbClr val="595959"/>
              </a:solidFill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23B3BC0-1758-3287-B28C-C5B49A63B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71876"/>
            <a:ext cx="3080731" cy="186124"/>
          </a:xfrm>
        </p:spPr>
        <p:txBody>
          <a:bodyPr/>
          <a:lstStyle/>
          <a:p>
            <a:r>
              <a:rPr lang="en-US" sz="1000" dirty="0"/>
              <a:t>© Itamar Shabtai, 2025, Claremont Graduate University</a:t>
            </a:r>
          </a:p>
        </p:txBody>
      </p:sp>
    </p:spTree>
    <p:extLst>
      <p:ext uri="{BB962C8B-B14F-4D97-AF65-F5344CB8AC3E}">
        <p14:creationId xmlns:p14="http://schemas.microsoft.com/office/powerpoint/2010/main" val="657466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91719A-1F05-E269-71B3-B57937A5A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466796F-3C9B-57D8-29BE-3CA3D63D56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062320-424B-6D0B-A6A9-C8DEF435B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890" y="254190"/>
            <a:ext cx="6907237" cy="1354505"/>
          </a:xfrm>
        </p:spPr>
        <p:txBody>
          <a:bodyPr anchor="t">
            <a:normAutofit/>
          </a:bodyPr>
          <a:lstStyle/>
          <a:p>
            <a:pPr algn="ctr"/>
            <a:r>
              <a:rPr lang="en-US" sz="3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AI for Humanity Compass</a:t>
            </a:r>
            <a:br>
              <a:rPr lang="en-US" sz="27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 decision tool 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to orient </a:t>
            </a: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AI initiatives </a:t>
            </a:r>
            <a:b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toward </a:t>
            </a: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human value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safety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and </a:t>
            </a: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trust</a:t>
            </a:r>
            <a:endParaRPr lang="en-US" sz="27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100E915-CCC4-BB38-D0EF-EFAC46D32A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16208" y="0"/>
            <a:ext cx="4775791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2C05C5-8C5A-CED2-2577-C144DCF6DC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3354" y="1552222"/>
            <a:ext cx="2951872" cy="3631520"/>
          </a:xfrm>
        </p:spPr>
        <p:txBody>
          <a:bodyPr anchor="ctr">
            <a:normAutofit/>
          </a:bodyPr>
          <a:lstStyle/>
          <a:p>
            <a:pPr marL="0" lvl="0" indent="0">
              <a:buNone/>
            </a:pPr>
            <a:r>
              <a:rPr lang="en-US" sz="1600" dirty="0">
                <a:solidFill>
                  <a:srgbClr val="595959"/>
                </a:solidFill>
              </a:rPr>
              <a:t>N</a:t>
            </a:r>
            <a:r>
              <a:rPr lang="en-US" sz="1600" b="1" dirty="0">
                <a:solidFill>
                  <a:srgbClr val="595959"/>
                </a:solidFill>
              </a:rPr>
              <a:t> – Purpose</a:t>
            </a:r>
          </a:p>
          <a:p>
            <a:pPr marL="0" lvl="0" indent="0">
              <a:buNone/>
            </a:pPr>
            <a:r>
              <a:rPr lang="en-US" sz="1600" dirty="0">
                <a:solidFill>
                  <a:srgbClr val="595959"/>
                </a:solidFill>
              </a:rPr>
              <a:t>NE</a:t>
            </a:r>
            <a:r>
              <a:rPr lang="en-US" sz="1600" b="1" dirty="0">
                <a:solidFill>
                  <a:srgbClr val="595959"/>
                </a:solidFill>
              </a:rPr>
              <a:t> – People</a:t>
            </a:r>
            <a:endParaRPr lang="en-US" sz="1600" dirty="0">
              <a:solidFill>
                <a:srgbClr val="595959"/>
              </a:solidFill>
            </a:endParaRPr>
          </a:p>
          <a:p>
            <a:pPr marL="0" lvl="0" indent="0">
              <a:buNone/>
            </a:pPr>
            <a:r>
              <a:rPr lang="en-US" sz="1600" dirty="0">
                <a:solidFill>
                  <a:srgbClr val="595959"/>
                </a:solidFill>
              </a:rPr>
              <a:t>E</a:t>
            </a:r>
            <a:r>
              <a:rPr lang="en-US" sz="1600" b="1" dirty="0">
                <a:solidFill>
                  <a:srgbClr val="595959"/>
                </a:solidFill>
              </a:rPr>
              <a:t> – Values</a:t>
            </a:r>
          </a:p>
          <a:p>
            <a:pPr marL="0" lvl="0" indent="0">
              <a:buNone/>
            </a:pPr>
            <a:r>
              <a:rPr lang="en-US" sz="1600" dirty="0">
                <a:solidFill>
                  <a:srgbClr val="595959"/>
                </a:solidFill>
              </a:rPr>
              <a:t>SE</a:t>
            </a:r>
            <a:r>
              <a:rPr lang="en-US" sz="1600" b="1" dirty="0">
                <a:solidFill>
                  <a:srgbClr val="595959"/>
                </a:solidFill>
              </a:rPr>
              <a:t> – Risks</a:t>
            </a:r>
          </a:p>
          <a:p>
            <a:pPr marL="0" lvl="0" indent="0">
              <a:buNone/>
            </a:pPr>
            <a:r>
              <a:rPr lang="en-US" sz="1600" dirty="0">
                <a:solidFill>
                  <a:srgbClr val="595959"/>
                </a:solidFill>
              </a:rPr>
              <a:t>S</a:t>
            </a:r>
            <a:r>
              <a:rPr lang="en-US" sz="1600" b="1" dirty="0">
                <a:solidFill>
                  <a:srgbClr val="595959"/>
                </a:solidFill>
              </a:rPr>
              <a:t> – Human-in-the-Loop</a:t>
            </a:r>
          </a:p>
          <a:p>
            <a:pPr marL="0" lvl="0" indent="0">
              <a:buNone/>
            </a:pPr>
            <a:r>
              <a:rPr lang="en-US" sz="1600" dirty="0">
                <a:solidFill>
                  <a:srgbClr val="595959"/>
                </a:solidFill>
              </a:rPr>
              <a:t>SW</a:t>
            </a:r>
            <a:r>
              <a:rPr lang="en-US" sz="1600" b="1" dirty="0">
                <a:solidFill>
                  <a:srgbClr val="595959"/>
                </a:solidFill>
              </a:rPr>
              <a:t> – Data &amp; Privacy</a:t>
            </a:r>
          </a:p>
          <a:p>
            <a:pPr marL="0" lvl="0" indent="0">
              <a:buNone/>
            </a:pPr>
            <a:r>
              <a:rPr lang="en-US" sz="1600" dirty="0">
                <a:solidFill>
                  <a:srgbClr val="595959"/>
                </a:solidFill>
              </a:rPr>
              <a:t>W</a:t>
            </a:r>
            <a:r>
              <a:rPr lang="en-US" sz="1600" b="1" dirty="0">
                <a:solidFill>
                  <a:srgbClr val="595959"/>
                </a:solidFill>
              </a:rPr>
              <a:t> – Outcomes</a:t>
            </a:r>
          </a:p>
          <a:p>
            <a:pPr marL="0" lvl="0" indent="0">
              <a:buNone/>
            </a:pPr>
            <a:r>
              <a:rPr lang="en-US" sz="1600" dirty="0">
                <a:solidFill>
                  <a:srgbClr val="595959"/>
                </a:solidFill>
              </a:rPr>
              <a:t>NW</a:t>
            </a:r>
            <a:r>
              <a:rPr lang="en-US" sz="1600" b="1" dirty="0">
                <a:solidFill>
                  <a:srgbClr val="595959"/>
                </a:solidFill>
              </a:rPr>
              <a:t> – Metrics of Humanity</a:t>
            </a:r>
            <a:endParaRPr lang="en-US" sz="1600" dirty="0">
              <a:solidFill>
                <a:srgbClr val="595959"/>
              </a:solidFill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F30CDC3-BD57-C8D2-C86B-FA4A3A16F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71876"/>
            <a:ext cx="3080731" cy="186124"/>
          </a:xfrm>
        </p:spPr>
        <p:txBody>
          <a:bodyPr/>
          <a:lstStyle/>
          <a:p>
            <a:r>
              <a:rPr lang="en-US" sz="1000" dirty="0"/>
              <a:t>© Itamar Shabtai, 2025, Claremont Graduate University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ED924B9-AC5A-9747-9372-DAD7D7CA3983}"/>
              </a:ext>
            </a:extLst>
          </p:cNvPr>
          <p:cNvGrpSpPr/>
          <p:nvPr/>
        </p:nvGrpSpPr>
        <p:grpSpPr>
          <a:xfrm>
            <a:off x="83135" y="1380887"/>
            <a:ext cx="7105451" cy="5110646"/>
            <a:chOff x="83135" y="1380887"/>
            <a:chExt cx="7105451" cy="5110646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45E2A78-28FC-3C9B-BAF1-F0492515C4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04959" y="2142661"/>
              <a:ext cx="5091039" cy="3631974"/>
            </a:xfrm>
            <a:prstGeom prst="rect">
              <a:avLst/>
            </a:prstGeom>
          </p:spPr>
        </p:pic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C3669201-4396-ABF0-167E-1E54C92B4F4F}"/>
                </a:ext>
              </a:extLst>
            </p:cNvPr>
            <p:cNvSpPr/>
            <p:nvPr/>
          </p:nvSpPr>
          <p:spPr>
            <a:xfrm>
              <a:off x="1004958" y="1665804"/>
              <a:ext cx="5178670" cy="4585688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F98B429-7A2F-C0D2-FF74-9378501670D6}"/>
                </a:ext>
              </a:extLst>
            </p:cNvPr>
            <p:cNvSpPr txBox="1"/>
            <p:nvPr/>
          </p:nvSpPr>
          <p:spPr>
            <a:xfrm>
              <a:off x="3185449" y="1380887"/>
              <a:ext cx="8176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solidFill>
                    <a:srgbClr val="C00000"/>
                  </a:solidFill>
                </a:rPr>
                <a:t>Policy</a:t>
              </a:r>
              <a:endParaRPr lang="en-US" sz="1600" dirty="0">
                <a:solidFill>
                  <a:srgbClr val="C00000"/>
                </a:solidFill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65C2398-FA99-65C4-B47D-6293DCB8B1C6}"/>
                </a:ext>
              </a:extLst>
            </p:cNvPr>
            <p:cNvSpPr txBox="1"/>
            <p:nvPr/>
          </p:nvSpPr>
          <p:spPr>
            <a:xfrm>
              <a:off x="83135" y="3771682"/>
              <a:ext cx="98727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solidFill>
                    <a:srgbClr val="C00000"/>
                  </a:solidFill>
                </a:rPr>
                <a:t>Regulatory</a:t>
              </a:r>
              <a:endParaRPr lang="en-US" sz="1600" dirty="0">
                <a:solidFill>
                  <a:srgbClr val="C00000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161C1CB-9767-2AC0-A9E3-44802D936167}"/>
                </a:ext>
              </a:extLst>
            </p:cNvPr>
            <p:cNvSpPr txBox="1"/>
            <p:nvPr/>
          </p:nvSpPr>
          <p:spPr>
            <a:xfrm>
              <a:off x="6095998" y="3775358"/>
              <a:ext cx="109258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solidFill>
                    <a:srgbClr val="C00000"/>
                  </a:solidFill>
                </a:rPr>
                <a:t>Compliance</a:t>
              </a:r>
              <a:endParaRPr lang="en-US" dirty="0">
                <a:solidFill>
                  <a:srgbClr val="C00000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B80E303-DEEE-8E65-3EC2-F7F8DB1048DE}"/>
                </a:ext>
              </a:extLst>
            </p:cNvPr>
            <p:cNvSpPr txBox="1"/>
            <p:nvPr/>
          </p:nvSpPr>
          <p:spPr>
            <a:xfrm>
              <a:off x="3058013" y="6245312"/>
              <a:ext cx="114495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solidFill>
                    <a:srgbClr val="C00000"/>
                  </a:solidFill>
                </a:rPr>
                <a:t>Governance</a:t>
              </a:r>
              <a:endParaRPr lang="en-US" dirty="0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35717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23CF1B-135C-58BB-D9D7-40D2EA778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7F74241-15DA-9F5D-28FC-2072590F25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A24B74-F492-FF2F-F5F0-C80BF0725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890" y="254190"/>
            <a:ext cx="6907237" cy="1354505"/>
          </a:xfrm>
        </p:spPr>
        <p:txBody>
          <a:bodyPr anchor="t">
            <a:normAutofit/>
          </a:bodyPr>
          <a:lstStyle/>
          <a:p>
            <a:pPr algn="ctr"/>
            <a:r>
              <a:rPr lang="en-US" sz="3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AI for Humanity Compass</a:t>
            </a:r>
            <a:br>
              <a:rPr lang="en-US" sz="27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 decision tool 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to orient </a:t>
            </a: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AI initiatives </a:t>
            </a:r>
            <a:b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toward </a:t>
            </a: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human value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safety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and </a:t>
            </a: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trust</a:t>
            </a:r>
            <a:endParaRPr lang="en-US" sz="27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C50BA9-0139-2C70-EEAC-EE01948D0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16208" y="0"/>
            <a:ext cx="4775791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B8D9E-6C3F-A803-612A-565097D39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3354" y="1552222"/>
            <a:ext cx="2951872" cy="3631520"/>
          </a:xfrm>
        </p:spPr>
        <p:txBody>
          <a:bodyPr anchor="ctr">
            <a:normAutofit/>
          </a:bodyPr>
          <a:lstStyle/>
          <a:p>
            <a:pPr marL="0" lvl="0" indent="0">
              <a:buNone/>
            </a:pPr>
            <a:r>
              <a:rPr lang="en-US" sz="1600" dirty="0">
                <a:solidFill>
                  <a:srgbClr val="595959"/>
                </a:solidFill>
              </a:rPr>
              <a:t>N</a:t>
            </a:r>
            <a:r>
              <a:rPr lang="en-US" sz="1600" b="1" dirty="0">
                <a:solidFill>
                  <a:srgbClr val="595959"/>
                </a:solidFill>
              </a:rPr>
              <a:t> – Purpose</a:t>
            </a:r>
          </a:p>
          <a:p>
            <a:pPr marL="0" lvl="0" indent="0">
              <a:buNone/>
            </a:pPr>
            <a:r>
              <a:rPr lang="en-US" sz="1600" dirty="0">
                <a:solidFill>
                  <a:srgbClr val="595959"/>
                </a:solidFill>
              </a:rPr>
              <a:t>NE</a:t>
            </a:r>
            <a:r>
              <a:rPr lang="en-US" sz="1600" b="1" dirty="0">
                <a:solidFill>
                  <a:srgbClr val="595959"/>
                </a:solidFill>
              </a:rPr>
              <a:t> – People</a:t>
            </a:r>
            <a:endParaRPr lang="en-US" sz="1600" dirty="0">
              <a:solidFill>
                <a:srgbClr val="595959"/>
              </a:solidFill>
            </a:endParaRPr>
          </a:p>
          <a:p>
            <a:pPr marL="0" lvl="0" indent="0">
              <a:buNone/>
            </a:pPr>
            <a:r>
              <a:rPr lang="en-US" sz="1600" dirty="0">
                <a:solidFill>
                  <a:srgbClr val="595959"/>
                </a:solidFill>
              </a:rPr>
              <a:t>E</a:t>
            </a:r>
            <a:r>
              <a:rPr lang="en-US" sz="1600" b="1" dirty="0">
                <a:solidFill>
                  <a:srgbClr val="595959"/>
                </a:solidFill>
              </a:rPr>
              <a:t> – Values</a:t>
            </a:r>
          </a:p>
          <a:p>
            <a:pPr marL="0" lvl="0" indent="0">
              <a:buNone/>
            </a:pPr>
            <a:r>
              <a:rPr lang="en-US" sz="1600" dirty="0">
                <a:solidFill>
                  <a:srgbClr val="595959"/>
                </a:solidFill>
              </a:rPr>
              <a:t>SE</a:t>
            </a:r>
            <a:r>
              <a:rPr lang="en-US" sz="1600" b="1" dirty="0">
                <a:solidFill>
                  <a:srgbClr val="595959"/>
                </a:solidFill>
              </a:rPr>
              <a:t> – Risks</a:t>
            </a:r>
          </a:p>
          <a:p>
            <a:pPr marL="0" lvl="0" indent="0">
              <a:buNone/>
            </a:pPr>
            <a:r>
              <a:rPr lang="en-US" sz="1600" dirty="0">
                <a:solidFill>
                  <a:srgbClr val="595959"/>
                </a:solidFill>
              </a:rPr>
              <a:t>S</a:t>
            </a:r>
            <a:r>
              <a:rPr lang="en-US" sz="1600" b="1" dirty="0">
                <a:solidFill>
                  <a:srgbClr val="595959"/>
                </a:solidFill>
              </a:rPr>
              <a:t> – Human-in-the-Loop</a:t>
            </a:r>
          </a:p>
          <a:p>
            <a:pPr marL="0" lvl="0" indent="0">
              <a:buNone/>
            </a:pPr>
            <a:r>
              <a:rPr lang="en-US" sz="1600" dirty="0">
                <a:solidFill>
                  <a:srgbClr val="595959"/>
                </a:solidFill>
              </a:rPr>
              <a:t>SW</a:t>
            </a:r>
            <a:r>
              <a:rPr lang="en-US" sz="1600" b="1" dirty="0">
                <a:solidFill>
                  <a:srgbClr val="595959"/>
                </a:solidFill>
              </a:rPr>
              <a:t> – Data &amp; Privacy</a:t>
            </a:r>
          </a:p>
          <a:p>
            <a:pPr marL="0" lvl="0" indent="0">
              <a:buNone/>
            </a:pPr>
            <a:r>
              <a:rPr lang="en-US" sz="1600" dirty="0">
                <a:solidFill>
                  <a:srgbClr val="595959"/>
                </a:solidFill>
              </a:rPr>
              <a:t>W</a:t>
            </a:r>
            <a:r>
              <a:rPr lang="en-US" sz="1600" b="1" dirty="0">
                <a:solidFill>
                  <a:srgbClr val="595959"/>
                </a:solidFill>
              </a:rPr>
              <a:t> – Outcomes</a:t>
            </a:r>
          </a:p>
          <a:p>
            <a:pPr marL="0" lvl="0" indent="0">
              <a:buNone/>
            </a:pPr>
            <a:r>
              <a:rPr lang="en-US" sz="1600" dirty="0">
                <a:solidFill>
                  <a:srgbClr val="595959"/>
                </a:solidFill>
              </a:rPr>
              <a:t>NW</a:t>
            </a:r>
            <a:r>
              <a:rPr lang="en-US" sz="1600" b="1" dirty="0">
                <a:solidFill>
                  <a:srgbClr val="595959"/>
                </a:solidFill>
              </a:rPr>
              <a:t> – Metrics of Humanity</a:t>
            </a:r>
            <a:endParaRPr lang="en-US" sz="1600" dirty="0">
              <a:solidFill>
                <a:srgbClr val="595959"/>
              </a:solidFill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3809159-CFED-4C12-8580-DB331EC46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71876"/>
            <a:ext cx="3080731" cy="186124"/>
          </a:xfrm>
        </p:spPr>
        <p:txBody>
          <a:bodyPr/>
          <a:lstStyle/>
          <a:p>
            <a:r>
              <a:rPr lang="en-US" sz="1000" dirty="0"/>
              <a:t>© Itamar Shabtai, 2025, Claremont Graduate University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A6A6B1B-9D46-3491-732D-D58924A00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820"/>
            <a:ext cx="7112000" cy="515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734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798308-42B6-4DAD-DBEB-2363CE52F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4991224-95C3-CE39-26EE-30CA564C4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ED3B15-4334-0CE0-5BB7-6B7C0C4BC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890" y="254190"/>
            <a:ext cx="6907237" cy="1354505"/>
          </a:xfrm>
        </p:spPr>
        <p:txBody>
          <a:bodyPr anchor="t">
            <a:normAutofit/>
          </a:bodyPr>
          <a:lstStyle/>
          <a:p>
            <a:pPr algn="ctr"/>
            <a:r>
              <a:rPr lang="en-US" sz="3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AI for Humanity Compass</a:t>
            </a:r>
            <a:br>
              <a:rPr lang="en-US" sz="27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 decision tool 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to orient </a:t>
            </a: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AI initiatives </a:t>
            </a:r>
            <a:b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toward </a:t>
            </a: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human value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safety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and </a:t>
            </a: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trust</a:t>
            </a:r>
            <a:endParaRPr lang="en-US" sz="27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6F9F66-876F-220F-7373-CB635516B7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16208" y="0"/>
            <a:ext cx="4775791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A40C6-3FA4-099B-E4E7-CC4E48C64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3354" y="1552222"/>
            <a:ext cx="2951872" cy="3631520"/>
          </a:xfrm>
        </p:spPr>
        <p:txBody>
          <a:bodyPr anchor="ctr">
            <a:normAutofit/>
          </a:bodyPr>
          <a:lstStyle/>
          <a:p>
            <a:pPr marL="0" lvl="0" indent="0">
              <a:buNone/>
            </a:pPr>
            <a:r>
              <a:rPr lang="en-US" sz="1600" dirty="0">
                <a:solidFill>
                  <a:srgbClr val="595959"/>
                </a:solidFill>
              </a:rPr>
              <a:t>N</a:t>
            </a:r>
            <a:r>
              <a:rPr lang="en-US" sz="1600" b="1" dirty="0">
                <a:solidFill>
                  <a:srgbClr val="595959"/>
                </a:solidFill>
              </a:rPr>
              <a:t> – Purpose</a:t>
            </a:r>
          </a:p>
          <a:p>
            <a:pPr marL="0" lvl="0" indent="0">
              <a:buNone/>
            </a:pPr>
            <a:r>
              <a:rPr lang="en-US" sz="1600" dirty="0">
                <a:solidFill>
                  <a:srgbClr val="595959"/>
                </a:solidFill>
              </a:rPr>
              <a:t>NE</a:t>
            </a:r>
            <a:r>
              <a:rPr lang="en-US" sz="1600" b="1" dirty="0">
                <a:solidFill>
                  <a:srgbClr val="595959"/>
                </a:solidFill>
              </a:rPr>
              <a:t> – People</a:t>
            </a:r>
            <a:endParaRPr lang="en-US" sz="1600" dirty="0">
              <a:solidFill>
                <a:srgbClr val="595959"/>
              </a:solidFill>
            </a:endParaRPr>
          </a:p>
          <a:p>
            <a:pPr marL="0" lvl="0" indent="0">
              <a:buNone/>
            </a:pPr>
            <a:r>
              <a:rPr lang="en-US" sz="1600" dirty="0">
                <a:solidFill>
                  <a:srgbClr val="595959"/>
                </a:solidFill>
              </a:rPr>
              <a:t>E</a:t>
            </a:r>
            <a:r>
              <a:rPr lang="en-US" sz="1600" b="1" dirty="0">
                <a:solidFill>
                  <a:srgbClr val="595959"/>
                </a:solidFill>
              </a:rPr>
              <a:t> – Values</a:t>
            </a:r>
          </a:p>
          <a:p>
            <a:pPr marL="0" lvl="0" indent="0">
              <a:buNone/>
            </a:pPr>
            <a:r>
              <a:rPr lang="en-US" sz="1600" dirty="0">
                <a:solidFill>
                  <a:srgbClr val="595959"/>
                </a:solidFill>
              </a:rPr>
              <a:t>SE</a:t>
            </a:r>
            <a:r>
              <a:rPr lang="en-US" sz="1600" b="1" dirty="0">
                <a:solidFill>
                  <a:srgbClr val="595959"/>
                </a:solidFill>
              </a:rPr>
              <a:t> – Risks</a:t>
            </a:r>
          </a:p>
          <a:p>
            <a:pPr marL="0" lvl="0" indent="0">
              <a:buNone/>
            </a:pPr>
            <a:r>
              <a:rPr lang="en-US" sz="1600" dirty="0">
                <a:solidFill>
                  <a:srgbClr val="595959"/>
                </a:solidFill>
              </a:rPr>
              <a:t>S</a:t>
            </a:r>
            <a:r>
              <a:rPr lang="en-US" sz="1600" b="1" dirty="0">
                <a:solidFill>
                  <a:srgbClr val="595959"/>
                </a:solidFill>
              </a:rPr>
              <a:t> – Human-in-the-Loop</a:t>
            </a:r>
          </a:p>
          <a:p>
            <a:pPr marL="0" lvl="0" indent="0">
              <a:buNone/>
            </a:pPr>
            <a:r>
              <a:rPr lang="en-US" sz="1600" dirty="0">
                <a:solidFill>
                  <a:srgbClr val="595959"/>
                </a:solidFill>
              </a:rPr>
              <a:t>SW</a:t>
            </a:r>
            <a:r>
              <a:rPr lang="en-US" sz="1600" b="1" dirty="0">
                <a:solidFill>
                  <a:srgbClr val="595959"/>
                </a:solidFill>
              </a:rPr>
              <a:t> – Data &amp; Privacy</a:t>
            </a:r>
          </a:p>
          <a:p>
            <a:pPr marL="0" lvl="0" indent="0">
              <a:buNone/>
            </a:pPr>
            <a:r>
              <a:rPr lang="en-US" sz="1600" dirty="0">
                <a:solidFill>
                  <a:srgbClr val="595959"/>
                </a:solidFill>
              </a:rPr>
              <a:t>W</a:t>
            </a:r>
            <a:r>
              <a:rPr lang="en-US" sz="1600" b="1" dirty="0">
                <a:solidFill>
                  <a:srgbClr val="595959"/>
                </a:solidFill>
              </a:rPr>
              <a:t> – Outcomes</a:t>
            </a:r>
          </a:p>
          <a:p>
            <a:pPr marL="0" lvl="0" indent="0">
              <a:buNone/>
            </a:pPr>
            <a:r>
              <a:rPr lang="en-US" sz="1600" dirty="0">
                <a:solidFill>
                  <a:srgbClr val="595959"/>
                </a:solidFill>
              </a:rPr>
              <a:t>NW</a:t>
            </a:r>
            <a:r>
              <a:rPr lang="en-US" sz="1600" b="1" dirty="0">
                <a:solidFill>
                  <a:srgbClr val="595959"/>
                </a:solidFill>
              </a:rPr>
              <a:t> – Metrics of Humanity</a:t>
            </a:r>
            <a:endParaRPr lang="en-US" sz="1600" dirty="0">
              <a:solidFill>
                <a:srgbClr val="595959"/>
              </a:solidFill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63D9363-4B25-5971-EBA4-5F95E08E7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71876"/>
            <a:ext cx="3080731" cy="186124"/>
          </a:xfrm>
        </p:spPr>
        <p:txBody>
          <a:bodyPr/>
          <a:lstStyle/>
          <a:p>
            <a:r>
              <a:rPr lang="en-US" sz="1000" dirty="0"/>
              <a:t>© Itamar Shabtai, 2025, Claremont Graduate University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E48BAE9-8E1F-3C64-1999-BB530623C5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68" y="1409510"/>
            <a:ext cx="7226300" cy="519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1419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212FBC-878B-3CD9-D4B0-EE80E2A76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9ACD516-4117-7633-0D40-6746EDD9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538B48-DF05-BDF7-8207-9F5166230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890" y="254190"/>
            <a:ext cx="6907237" cy="1354505"/>
          </a:xfrm>
        </p:spPr>
        <p:txBody>
          <a:bodyPr anchor="t">
            <a:normAutofit/>
          </a:bodyPr>
          <a:lstStyle/>
          <a:p>
            <a:pPr algn="ctr"/>
            <a:r>
              <a:rPr lang="en-US" sz="3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AI for Humanity Compass</a:t>
            </a:r>
            <a:br>
              <a:rPr lang="en-US" sz="27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 decision tool to orient AI initiatives </a:t>
            </a:r>
            <a:b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toward human value, safety, and trust</a:t>
            </a:r>
            <a:endParaRPr lang="en-US" sz="27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B95E54E-B23C-2035-987D-ACC3759B8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16208" y="0"/>
            <a:ext cx="4775791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5FAED-C5CF-9016-F3E9-AF0024E2D7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3354" y="1552222"/>
            <a:ext cx="2951872" cy="3631520"/>
          </a:xfrm>
        </p:spPr>
        <p:txBody>
          <a:bodyPr anchor="ctr">
            <a:normAutofit/>
          </a:bodyPr>
          <a:lstStyle/>
          <a:p>
            <a:pPr marL="0" lvl="0" indent="0">
              <a:buNone/>
            </a:pPr>
            <a:r>
              <a:rPr lang="en-US" sz="1600" dirty="0">
                <a:solidFill>
                  <a:srgbClr val="595959"/>
                </a:solidFill>
              </a:rPr>
              <a:t>N</a:t>
            </a:r>
            <a:r>
              <a:rPr lang="en-US" sz="1600" b="1" dirty="0">
                <a:solidFill>
                  <a:srgbClr val="595959"/>
                </a:solidFill>
              </a:rPr>
              <a:t> – Purpose</a:t>
            </a:r>
          </a:p>
          <a:p>
            <a:pPr marL="0" lvl="0" indent="0">
              <a:buNone/>
            </a:pPr>
            <a:r>
              <a:rPr lang="en-US" sz="1600" dirty="0">
                <a:solidFill>
                  <a:srgbClr val="595959"/>
                </a:solidFill>
              </a:rPr>
              <a:t>NE</a:t>
            </a:r>
            <a:r>
              <a:rPr lang="en-US" sz="1600" b="1" dirty="0">
                <a:solidFill>
                  <a:srgbClr val="595959"/>
                </a:solidFill>
              </a:rPr>
              <a:t> – People</a:t>
            </a:r>
            <a:endParaRPr lang="en-US" sz="1600" dirty="0">
              <a:solidFill>
                <a:srgbClr val="595959"/>
              </a:solidFill>
            </a:endParaRPr>
          </a:p>
          <a:p>
            <a:pPr marL="0" lvl="0" indent="0">
              <a:buNone/>
            </a:pPr>
            <a:r>
              <a:rPr lang="en-US" sz="1600" dirty="0">
                <a:solidFill>
                  <a:srgbClr val="595959"/>
                </a:solidFill>
              </a:rPr>
              <a:t>E</a:t>
            </a:r>
            <a:r>
              <a:rPr lang="en-US" sz="1600" b="1" dirty="0">
                <a:solidFill>
                  <a:srgbClr val="595959"/>
                </a:solidFill>
              </a:rPr>
              <a:t> – Values</a:t>
            </a:r>
          </a:p>
          <a:p>
            <a:pPr marL="0" lvl="0" indent="0">
              <a:buNone/>
            </a:pPr>
            <a:r>
              <a:rPr lang="en-US" sz="1600" dirty="0">
                <a:solidFill>
                  <a:srgbClr val="595959"/>
                </a:solidFill>
              </a:rPr>
              <a:t>SE</a:t>
            </a:r>
            <a:r>
              <a:rPr lang="en-US" sz="1600" b="1" dirty="0">
                <a:solidFill>
                  <a:srgbClr val="595959"/>
                </a:solidFill>
              </a:rPr>
              <a:t> – Risks</a:t>
            </a:r>
          </a:p>
          <a:p>
            <a:pPr marL="0" lvl="0" indent="0">
              <a:buNone/>
            </a:pPr>
            <a:r>
              <a:rPr lang="en-US" sz="1600" dirty="0">
                <a:solidFill>
                  <a:srgbClr val="595959"/>
                </a:solidFill>
              </a:rPr>
              <a:t>S</a:t>
            </a:r>
            <a:r>
              <a:rPr lang="en-US" sz="1600" b="1" dirty="0">
                <a:solidFill>
                  <a:srgbClr val="595959"/>
                </a:solidFill>
              </a:rPr>
              <a:t> – Human-in-the-Loop</a:t>
            </a:r>
          </a:p>
          <a:p>
            <a:pPr marL="0" lvl="0" indent="0">
              <a:buNone/>
            </a:pPr>
            <a:r>
              <a:rPr lang="en-US" sz="1600" dirty="0">
                <a:solidFill>
                  <a:srgbClr val="595959"/>
                </a:solidFill>
              </a:rPr>
              <a:t>SW</a:t>
            </a:r>
            <a:r>
              <a:rPr lang="en-US" sz="1600" b="1" dirty="0">
                <a:solidFill>
                  <a:srgbClr val="595959"/>
                </a:solidFill>
              </a:rPr>
              <a:t> – Data &amp; Privacy</a:t>
            </a:r>
          </a:p>
          <a:p>
            <a:pPr marL="0" lvl="0" indent="0">
              <a:buNone/>
            </a:pPr>
            <a:r>
              <a:rPr lang="en-US" sz="1600" dirty="0">
                <a:solidFill>
                  <a:srgbClr val="595959"/>
                </a:solidFill>
              </a:rPr>
              <a:t>W</a:t>
            </a:r>
            <a:r>
              <a:rPr lang="en-US" sz="1600" b="1" dirty="0">
                <a:solidFill>
                  <a:srgbClr val="595959"/>
                </a:solidFill>
              </a:rPr>
              <a:t> – Outcomes</a:t>
            </a:r>
          </a:p>
          <a:p>
            <a:pPr marL="0" lvl="0" indent="0">
              <a:buNone/>
            </a:pPr>
            <a:r>
              <a:rPr lang="en-US" sz="1600" dirty="0">
                <a:solidFill>
                  <a:srgbClr val="595959"/>
                </a:solidFill>
              </a:rPr>
              <a:t>NW</a:t>
            </a:r>
            <a:r>
              <a:rPr lang="en-US" sz="1600" b="1" dirty="0">
                <a:solidFill>
                  <a:srgbClr val="595959"/>
                </a:solidFill>
              </a:rPr>
              <a:t> – Metrics of Humanity</a:t>
            </a:r>
            <a:endParaRPr lang="en-US" sz="1600" dirty="0">
              <a:solidFill>
                <a:srgbClr val="595959"/>
              </a:solidFill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382A63D5-E90F-6CCF-1504-0847EF916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71876"/>
            <a:ext cx="3080731" cy="186124"/>
          </a:xfrm>
        </p:spPr>
        <p:txBody>
          <a:bodyPr/>
          <a:lstStyle/>
          <a:p>
            <a:r>
              <a:rPr lang="en-US" sz="1000" dirty="0"/>
              <a:t>© Itamar Shabtai, 2025, Claremont Graduate University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9A53052-7A0B-AC45-12DC-F8934CC9B2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890" y="1238250"/>
            <a:ext cx="6907237" cy="519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1514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BDCC13-5840-5D91-0E80-9CCD43192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ED84E97-5A48-0055-0AAE-3F4ABAE88F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5F000F-3E60-DC7F-A9CD-9B9D5B61F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890" y="254190"/>
            <a:ext cx="6907237" cy="1354505"/>
          </a:xfrm>
        </p:spPr>
        <p:txBody>
          <a:bodyPr anchor="t">
            <a:normAutofit/>
          </a:bodyPr>
          <a:lstStyle/>
          <a:p>
            <a:pPr algn="ctr"/>
            <a:r>
              <a:rPr lang="en-US" sz="3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AI for Humanity Compass</a:t>
            </a:r>
            <a:br>
              <a:rPr lang="en-US" sz="27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 decision tool to orient AI initiatives </a:t>
            </a:r>
            <a:b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toward human value, safety, and trust</a:t>
            </a:r>
            <a:endParaRPr lang="en-US" sz="27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7AF744A-2462-1FBF-EF33-DD1D385159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082" y="1490973"/>
            <a:ext cx="6820487" cy="486577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0AF242F-6E05-E9F7-A5E0-827D747E0E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16208" y="0"/>
            <a:ext cx="4775791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EA8E9F-BF06-7776-B507-3F40D3CA9C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93014" y="773518"/>
            <a:ext cx="3373903" cy="5310963"/>
          </a:xfrm>
        </p:spPr>
        <p:txBody>
          <a:bodyPr anchor="ctr">
            <a:normAutofit/>
          </a:bodyPr>
          <a:lstStyle/>
          <a:p>
            <a:pPr marL="0" lvl="0" indent="0">
              <a:buNone/>
            </a:pPr>
            <a:r>
              <a:rPr lang="en-US" sz="2400" b="1" dirty="0">
                <a:solidFill>
                  <a:srgbClr val="595959"/>
                </a:solidFill>
              </a:rPr>
              <a:t>North: Purpose</a:t>
            </a:r>
            <a:endParaRPr lang="en-US" sz="2400" dirty="0">
              <a:solidFill>
                <a:srgbClr val="595959"/>
              </a:solidFill>
            </a:endParaRPr>
          </a:p>
          <a:p>
            <a:r>
              <a:rPr lang="en-US" sz="1600" dirty="0">
                <a:solidFill>
                  <a:srgbClr val="595959"/>
                </a:solidFill>
              </a:rPr>
              <a:t>The human need</a:t>
            </a:r>
          </a:p>
          <a:p>
            <a:r>
              <a:rPr lang="en-US" sz="1600" dirty="0">
                <a:solidFill>
                  <a:srgbClr val="595959"/>
                </a:solidFill>
              </a:rPr>
              <a:t>Why this matters to a person</a:t>
            </a:r>
          </a:p>
          <a:p>
            <a:r>
              <a:rPr lang="en-US" sz="1600" dirty="0">
                <a:solidFill>
                  <a:srgbClr val="595959"/>
                </a:solidFill>
              </a:rPr>
              <a:t>And not just to the business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9F96033-7484-2B4C-861C-CD0679278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71876"/>
            <a:ext cx="3080731" cy="186124"/>
          </a:xfrm>
        </p:spPr>
        <p:txBody>
          <a:bodyPr/>
          <a:lstStyle/>
          <a:p>
            <a:r>
              <a:rPr lang="en-US" sz="1000" dirty="0"/>
              <a:t>© Itamar Shabtai, 2025, Claremont Graduate University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4E63FF4-6D8A-7A34-4CBB-7B19715D7ECB}"/>
              </a:ext>
            </a:extLst>
          </p:cNvPr>
          <p:cNvSpPr/>
          <p:nvPr/>
        </p:nvSpPr>
        <p:spPr>
          <a:xfrm>
            <a:off x="2668171" y="1467527"/>
            <a:ext cx="2091399" cy="642627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8069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C69996-4B2A-ADE3-F109-1A4762A87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D571356-E2FC-242B-FA22-52AD442F6A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591FE2-C04F-C1E6-5A85-DEA8B6C48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890" y="254190"/>
            <a:ext cx="6907237" cy="1354505"/>
          </a:xfrm>
        </p:spPr>
        <p:txBody>
          <a:bodyPr anchor="t">
            <a:normAutofit/>
          </a:bodyPr>
          <a:lstStyle/>
          <a:p>
            <a:pPr algn="ctr"/>
            <a:r>
              <a:rPr lang="en-US" sz="3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AI for Humanity Compass</a:t>
            </a:r>
            <a:br>
              <a:rPr lang="en-US" sz="27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 decision tool to orient AI initiatives </a:t>
            </a:r>
            <a:b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toward human value, safety, and trust</a:t>
            </a:r>
            <a:endParaRPr lang="en-US" sz="27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7CDE75B-4E88-3701-2986-700E647FF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082" y="1490973"/>
            <a:ext cx="6820487" cy="486577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1E0D802-4695-B0DB-C8B6-6180236ED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16208" y="0"/>
            <a:ext cx="4775791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82229-E62D-4A3B-819F-A483C6FA89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93014" y="773518"/>
            <a:ext cx="3373903" cy="5310963"/>
          </a:xfrm>
        </p:spPr>
        <p:txBody>
          <a:bodyPr anchor="ctr">
            <a:normAutofit/>
          </a:bodyPr>
          <a:lstStyle/>
          <a:p>
            <a:pPr marL="0" lvl="0" indent="0">
              <a:buNone/>
            </a:pPr>
            <a:r>
              <a:rPr lang="en-US" sz="2400" b="1" dirty="0">
                <a:solidFill>
                  <a:srgbClr val="595959"/>
                </a:solidFill>
              </a:rPr>
              <a:t>North-East: People</a:t>
            </a:r>
            <a:endParaRPr lang="en-US" sz="2400" dirty="0">
              <a:solidFill>
                <a:srgbClr val="595959"/>
              </a:solidFill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sz="1600" dirty="0">
                <a:solidFill>
                  <a:srgbClr val="595959"/>
                </a:solidFill>
              </a:rPr>
              <a:t>Who we help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1600" dirty="0">
                <a:solidFill>
                  <a:srgbClr val="595959"/>
                </a:solidFill>
              </a:rPr>
              <a:t>Who we might hurt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1600" dirty="0">
                <a:solidFill>
                  <a:srgbClr val="595959"/>
                </a:solidFill>
              </a:rPr>
              <a:t>Who is responsible for protecting.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08538A5-78AC-5D8E-6889-607FEF573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71876"/>
            <a:ext cx="3080731" cy="186124"/>
          </a:xfrm>
        </p:spPr>
        <p:txBody>
          <a:bodyPr/>
          <a:lstStyle/>
          <a:p>
            <a:r>
              <a:rPr lang="en-US" sz="1000" dirty="0"/>
              <a:t>© Itamar Shabtai, 2025, Claremont Graduate University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81E5919-EC54-971C-579F-02FDE6CA957A}"/>
              </a:ext>
            </a:extLst>
          </p:cNvPr>
          <p:cNvSpPr/>
          <p:nvPr/>
        </p:nvSpPr>
        <p:spPr>
          <a:xfrm>
            <a:off x="3981250" y="2311588"/>
            <a:ext cx="2091399" cy="642627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0989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F1E727-1C71-AE4B-64E4-AB7567BC4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47191845-254D-D496-C1F7-8249E59BC3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720344-F910-CAE3-B3BB-CCBE4576B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890" y="254190"/>
            <a:ext cx="6907237" cy="1354505"/>
          </a:xfrm>
        </p:spPr>
        <p:txBody>
          <a:bodyPr anchor="t">
            <a:normAutofit/>
          </a:bodyPr>
          <a:lstStyle/>
          <a:p>
            <a:pPr algn="ctr"/>
            <a:r>
              <a:rPr lang="en-US" sz="3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AI for Humanity Compass</a:t>
            </a:r>
            <a:br>
              <a:rPr lang="en-US" sz="27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 decision tool to orient AI initiatives </a:t>
            </a:r>
            <a:b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toward human value, safety, and trust</a:t>
            </a:r>
            <a:endParaRPr lang="en-US" sz="27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7FF6F1-24D8-FD27-BD01-94DEF264F7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082" y="1490973"/>
            <a:ext cx="6820487" cy="486577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48BFE7E-BF64-72C1-6C94-FE459A7D39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16208" y="0"/>
            <a:ext cx="4775791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5CDC7-0DD4-5DC3-0CB1-5C02BB425F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93014" y="773518"/>
            <a:ext cx="3373903" cy="5310963"/>
          </a:xfrm>
        </p:spPr>
        <p:txBody>
          <a:bodyPr anchor="ctr">
            <a:normAutofit/>
          </a:bodyPr>
          <a:lstStyle/>
          <a:p>
            <a:pPr marL="0" lvl="0" indent="0">
              <a:buNone/>
            </a:pPr>
            <a:r>
              <a:rPr lang="en-US" sz="2400" b="1" dirty="0">
                <a:solidFill>
                  <a:srgbClr val="595959"/>
                </a:solidFill>
              </a:rPr>
              <a:t>East: Values</a:t>
            </a:r>
            <a:endParaRPr lang="en-US" sz="2400" dirty="0">
              <a:solidFill>
                <a:srgbClr val="595959"/>
              </a:solidFill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sz="1600" dirty="0">
                <a:solidFill>
                  <a:srgbClr val="595959"/>
                </a:solidFill>
              </a:rPr>
              <a:t>The human values to focus on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1600" dirty="0">
                <a:solidFill>
                  <a:srgbClr val="595959"/>
                </a:solidFill>
              </a:rPr>
              <a:t>How we build them in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56EC5A8-0E37-6D3A-CA57-7F85F4F2C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71876"/>
            <a:ext cx="3080731" cy="186124"/>
          </a:xfrm>
        </p:spPr>
        <p:txBody>
          <a:bodyPr/>
          <a:lstStyle/>
          <a:p>
            <a:r>
              <a:rPr lang="en-US" sz="1000" dirty="0"/>
              <a:t>© Itamar Shabtai, 2025, Claremont Graduate University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0639FA9-DA2F-ED51-F092-46A856FC0A31}"/>
              </a:ext>
            </a:extLst>
          </p:cNvPr>
          <p:cNvSpPr/>
          <p:nvPr/>
        </p:nvSpPr>
        <p:spPr>
          <a:xfrm>
            <a:off x="5099727" y="3661406"/>
            <a:ext cx="2091399" cy="642627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2349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778934-0F05-4F38-A6F2-292D0A5C2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0D47DA4-A374-F764-C42A-4D51875340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58EE95-E2D3-B650-F924-9C1E30193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890" y="254190"/>
            <a:ext cx="6907237" cy="1354505"/>
          </a:xfrm>
        </p:spPr>
        <p:txBody>
          <a:bodyPr anchor="t">
            <a:normAutofit/>
          </a:bodyPr>
          <a:lstStyle/>
          <a:p>
            <a:pPr algn="ctr"/>
            <a:r>
              <a:rPr lang="en-US" sz="3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AI for Humanity Compass</a:t>
            </a:r>
            <a:br>
              <a:rPr lang="en-US" sz="27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 decision tool to orient AI initiatives </a:t>
            </a:r>
            <a:b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toward human value, safety, and trust</a:t>
            </a:r>
            <a:endParaRPr lang="en-US" sz="27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EAD2BA4-52B9-37B2-0A38-BE398EF006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082" y="1490973"/>
            <a:ext cx="6820487" cy="486577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DE387377-D9B0-C7A1-8A00-5166328911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16208" y="0"/>
            <a:ext cx="4775791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05641-0F5A-5B8D-02DA-7D1D6365A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34207" y="668011"/>
            <a:ext cx="3373903" cy="5310963"/>
          </a:xfrm>
        </p:spPr>
        <p:txBody>
          <a:bodyPr anchor="ctr">
            <a:normAutofit/>
          </a:bodyPr>
          <a:lstStyle/>
          <a:p>
            <a:pPr marL="0" lvl="0" indent="0">
              <a:buNone/>
            </a:pPr>
            <a:r>
              <a:rPr lang="en-US" sz="2400" b="1" dirty="0">
                <a:solidFill>
                  <a:srgbClr val="595959"/>
                </a:solidFill>
              </a:rPr>
              <a:t>South-East: Risks</a:t>
            </a:r>
            <a:endParaRPr lang="en-US" sz="2400" dirty="0">
              <a:solidFill>
                <a:srgbClr val="595959"/>
              </a:solidFill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sz="1600" dirty="0">
                <a:solidFill>
                  <a:srgbClr val="595959"/>
                </a:solidFill>
              </a:rPr>
              <a:t>The main ways this can go wrong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1600" dirty="0">
                <a:solidFill>
                  <a:srgbClr val="595959"/>
                </a:solidFill>
              </a:rPr>
              <a:t>What we are doing about it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A30400A-192E-F7F8-304E-2CB77929A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71876"/>
            <a:ext cx="3080731" cy="186124"/>
          </a:xfrm>
        </p:spPr>
        <p:txBody>
          <a:bodyPr/>
          <a:lstStyle/>
          <a:p>
            <a:r>
              <a:rPr lang="en-US" sz="1000" dirty="0"/>
              <a:t>© Itamar Shabtai, 2025, Claremont Graduate University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B9FBAE1-9124-8E4A-74DC-544F4647BFD9}"/>
              </a:ext>
            </a:extLst>
          </p:cNvPr>
          <p:cNvSpPr/>
          <p:nvPr/>
        </p:nvSpPr>
        <p:spPr>
          <a:xfrm>
            <a:off x="4093790" y="4951929"/>
            <a:ext cx="2091399" cy="642627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9334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BB6479-3F5D-95BD-C7F8-6D62E4A8E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8958E90-C6A4-5CEE-682C-D0EEE2BC67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AEE0B8-2502-6E95-2622-54FD48D13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890" y="254190"/>
            <a:ext cx="6907237" cy="1354505"/>
          </a:xfrm>
        </p:spPr>
        <p:txBody>
          <a:bodyPr anchor="t">
            <a:normAutofit/>
          </a:bodyPr>
          <a:lstStyle/>
          <a:p>
            <a:pPr algn="ctr"/>
            <a:r>
              <a:rPr lang="en-US" sz="3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AI for Humanity Compass</a:t>
            </a:r>
            <a:br>
              <a:rPr lang="en-US" sz="27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 decision tool to orient AI initiatives </a:t>
            </a:r>
            <a:b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toward human value, safety, and trust</a:t>
            </a:r>
            <a:endParaRPr lang="en-US" sz="27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C99D589-307E-1E3E-8C8F-6889F14C7E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082" y="1490973"/>
            <a:ext cx="6820487" cy="486577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A94E7DF-3012-9270-F259-76426DEBC7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16208" y="0"/>
            <a:ext cx="4775791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756073-2229-1C8F-BB68-23ED88825A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8215" y="668011"/>
            <a:ext cx="3619895" cy="5310963"/>
          </a:xfrm>
        </p:spPr>
        <p:txBody>
          <a:bodyPr anchor="ctr">
            <a:normAutofit/>
          </a:bodyPr>
          <a:lstStyle/>
          <a:p>
            <a:pPr marL="0" lvl="0" indent="0">
              <a:buNone/>
            </a:pPr>
            <a:r>
              <a:rPr lang="en-US" sz="2400" b="1" dirty="0">
                <a:solidFill>
                  <a:srgbClr val="595959"/>
                </a:solidFill>
              </a:rPr>
              <a:t>South: Human-In-The-Loop</a:t>
            </a:r>
            <a:endParaRPr lang="en-US" sz="2400" dirty="0">
              <a:solidFill>
                <a:srgbClr val="595959"/>
              </a:solidFill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sz="1600" dirty="0">
                <a:solidFill>
                  <a:srgbClr val="595959"/>
                </a:solidFill>
              </a:rPr>
              <a:t>Where a real human can play a role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1600" dirty="0">
                <a:solidFill>
                  <a:srgbClr val="595959"/>
                </a:solidFill>
              </a:rPr>
              <a:t>Do we have the right people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200" dirty="0">
                <a:solidFill>
                  <a:srgbClr val="595959"/>
                </a:solidFill>
              </a:rPr>
              <a:t>Skills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200" dirty="0">
                <a:solidFill>
                  <a:srgbClr val="595959"/>
                </a:solidFill>
              </a:rPr>
              <a:t>Competencies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200" dirty="0">
                <a:solidFill>
                  <a:srgbClr val="595959"/>
                </a:solidFill>
              </a:rPr>
              <a:t>Authority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200" dirty="0">
                <a:solidFill>
                  <a:srgbClr val="595959"/>
                </a:solidFill>
              </a:rPr>
              <a:t>Capacity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F1ED2A1-0DB5-62E3-8648-DB42D78D6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71876"/>
            <a:ext cx="3080731" cy="186124"/>
          </a:xfrm>
        </p:spPr>
        <p:txBody>
          <a:bodyPr/>
          <a:lstStyle/>
          <a:p>
            <a:r>
              <a:rPr lang="en-US" sz="1000" dirty="0"/>
              <a:t>© Itamar Shabtai, 2025, Claremont Graduate University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8E781C7-95B9-D239-366E-2E8C29CFB23A}"/>
              </a:ext>
            </a:extLst>
          </p:cNvPr>
          <p:cNvSpPr/>
          <p:nvPr/>
        </p:nvSpPr>
        <p:spPr>
          <a:xfrm>
            <a:off x="2316478" y="5739705"/>
            <a:ext cx="2806506" cy="766603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8934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F1BBE1-EA99-CF71-7323-5C0AF2C3D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07A66A4-EC06-26E7-1D0E-9BEC0BACD0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7C4BDD-98C0-EB71-1AD9-90B28E7A2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890" y="254190"/>
            <a:ext cx="6907237" cy="1354505"/>
          </a:xfrm>
        </p:spPr>
        <p:txBody>
          <a:bodyPr anchor="t">
            <a:normAutofit/>
          </a:bodyPr>
          <a:lstStyle/>
          <a:p>
            <a:pPr algn="ctr"/>
            <a:r>
              <a:rPr lang="en-US" sz="3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AI for Humanity Compass</a:t>
            </a:r>
            <a:br>
              <a:rPr lang="en-US" sz="27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 decision tool to orient AI initiatives </a:t>
            </a:r>
            <a:b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toward human value, safety, and trust</a:t>
            </a:r>
            <a:endParaRPr lang="en-US" sz="27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4429FD4-7068-C347-2335-7F4E35379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082" y="1490973"/>
            <a:ext cx="6820487" cy="486577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FA2563D-A9AB-6BF9-7814-1BF6CCC21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16208" y="0"/>
            <a:ext cx="4775791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84157-3D3A-8888-31F2-FF4C3AF8A9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0647" y="668011"/>
            <a:ext cx="3807464" cy="5310963"/>
          </a:xfrm>
        </p:spPr>
        <p:txBody>
          <a:bodyPr anchor="ctr">
            <a:normAutofit/>
          </a:bodyPr>
          <a:lstStyle/>
          <a:p>
            <a:pPr marL="0" lvl="0" indent="0">
              <a:buNone/>
            </a:pPr>
            <a:r>
              <a:rPr lang="en-US" sz="2400" b="1" dirty="0">
                <a:solidFill>
                  <a:srgbClr val="595959"/>
                </a:solidFill>
              </a:rPr>
              <a:t>South-West: Data &amp; Privacy</a:t>
            </a:r>
            <a:endParaRPr lang="en-US" sz="2400" dirty="0">
              <a:solidFill>
                <a:srgbClr val="595959"/>
              </a:solidFill>
            </a:endParaRPr>
          </a:p>
          <a:p>
            <a:r>
              <a:rPr lang="en-US" sz="1600" dirty="0">
                <a:solidFill>
                  <a:srgbClr val="595959"/>
                </a:solidFill>
              </a:rPr>
              <a:t>Data boundaries</a:t>
            </a:r>
          </a:p>
          <a:p>
            <a:r>
              <a:rPr lang="en-US" sz="1600" dirty="0">
                <a:solidFill>
                  <a:srgbClr val="595959"/>
                </a:solidFill>
              </a:rPr>
              <a:t>Consent</a:t>
            </a:r>
          </a:p>
          <a:p>
            <a:r>
              <a:rPr lang="en-US" sz="1600" dirty="0">
                <a:solidFill>
                  <a:srgbClr val="595959"/>
                </a:solidFill>
              </a:rPr>
              <a:t>Access</a:t>
            </a:r>
            <a:endParaRPr lang="en-US" sz="1200" dirty="0">
              <a:solidFill>
                <a:srgbClr val="595959"/>
              </a:solidFill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9F2034D-18A4-5C5C-C98C-23A194DBE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71876"/>
            <a:ext cx="3080731" cy="186124"/>
          </a:xfrm>
        </p:spPr>
        <p:txBody>
          <a:bodyPr/>
          <a:lstStyle/>
          <a:p>
            <a:r>
              <a:rPr lang="en-US" sz="1000" dirty="0"/>
              <a:t>© Itamar Shabtai, 2025, Claremont Graduate University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EEFF659-F1E7-7F48-8A6A-73D2B6DE9CA3}"/>
              </a:ext>
            </a:extLst>
          </p:cNvPr>
          <p:cNvSpPr/>
          <p:nvPr/>
        </p:nvSpPr>
        <p:spPr>
          <a:xfrm>
            <a:off x="792479" y="4890665"/>
            <a:ext cx="2759613" cy="759858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9020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3E38AB-98D2-E78E-2F7E-F29D2E859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01D32F1-B580-2FC9-1C71-5AA23FD8E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A9E06B-D5D2-E619-FF93-04EBFFEEC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890" y="254190"/>
            <a:ext cx="6907237" cy="1354505"/>
          </a:xfrm>
        </p:spPr>
        <p:txBody>
          <a:bodyPr anchor="t">
            <a:normAutofit/>
          </a:bodyPr>
          <a:lstStyle/>
          <a:p>
            <a:pPr algn="ctr"/>
            <a:r>
              <a:rPr lang="en-US" sz="3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AI for Humanity Compass</a:t>
            </a:r>
            <a:br>
              <a:rPr lang="en-US" sz="27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 decision tool to orient AI initiatives </a:t>
            </a:r>
            <a:b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toward human value, safety, and trust</a:t>
            </a:r>
            <a:endParaRPr lang="en-US" sz="27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0CF1EFE-E95A-DC45-C718-17A3F4C67F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082" y="1490973"/>
            <a:ext cx="6820487" cy="486577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F543FB5-B546-4B74-BD10-FCD124D0DC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16208" y="0"/>
            <a:ext cx="4775791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F810CB-B9FD-6EC5-A1FB-AB68D15A40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35108" y="456996"/>
            <a:ext cx="3280399" cy="5310963"/>
          </a:xfrm>
        </p:spPr>
        <p:txBody>
          <a:bodyPr anchor="ctr">
            <a:normAutofit/>
          </a:bodyPr>
          <a:lstStyle/>
          <a:p>
            <a:pPr marL="0" lvl="0" indent="0">
              <a:buNone/>
            </a:pPr>
            <a:r>
              <a:rPr lang="en-US" sz="2400" b="1" dirty="0">
                <a:solidFill>
                  <a:srgbClr val="595959"/>
                </a:solidFill>
              </a:rPr>
              <a:t>West: Outcomes</a:t>
            </a:r>
            <a:endParaRPr lang="en-US" sz="2400" dirty="0">
              <a:solidFill>
                <a:srgbClr val="595959"/>
              </a:solidFill>
            </a:endParaRPr>
          </a:p>
          <a:p>
            <a:r>
              <a:rPr lang="en-US" sz="1600" dirty="0">
                <a:solidFill>
                  <a:srgbClr val="595959"/>
                </a:solidFill>
              </a:rPr>
              <a:t>The positive impact </a:t>
            </a:r>
          </a:p>
          <a:p>
            <a:r>
              <a:rPr lang="en-US" sz="1600" dirty="0">
                <a:solidFill>
                  <a:srgbClr val="595959"/>
                </a:solidFill>
              </a:rPr>
              <a:t>What we are promising to deliver</a:t>
            </a:r>
          </a:p>
          <a:p>
            <a:r>
              <a:rPr lang="en-US" sz="1600" dirty="0">
                <a:solidFill>
                  <a:srgbClr val="595959"/>
                </a:solidFill>
              </a:rPr>
              <a:t>Effectiveness vs. efficiency</a:t>
            </a:r>
            <a:endParaRPr lang="en-US" sz="1200" dirty="0">
              <a:solidFill>
                <a:srgbClr val="595959"/>
              </a:solidFill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72BA7BA-4B0A-4168-A204-6422CED77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71876"/>
            <a:ext cx="3080731" cy="186124"/>
          </a:xfrm>
        </p:spPr>
        <p:txBody>
          <a:bodyPr/>
          <a:lstStyle/>
          <a:p>
            <a:r>
              <a:rPr lang="en-US" sz="1000" dirty="0"/>
              <a:t>© Itamar Shabtai, 2025, Claremont Graduate University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1BBAD69-8BD4-B1E9-5E4F-341A1F828180}"/>
              </a:ext>
            </a:extLst>
          </p:cNvPr>
          <p:cNvSpPr/>
          <p:nvPr/>
        </p:nvSpPr>
        <p:spPr>
          <a:xfrm>
            <a:off x="79524" y="3629646"/>
            <a:ext cx="2246433" cy="672723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2223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F5ACD7-9BF4-E162-43C2-EE4AAFABF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4F17CBDF-3AD5-6D6C-0863-D80E6E61F7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FE3F22-8106-78BE-6002-FE23898F0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890" y="254190"/>
            <a:ext cx="6907237" cy="1354505"/>
          </a:xfrm>
        </p:spPr>
        <p:txBody>
          <a:bodyPr anchor="t">
            <a:normAutofit/>
          </a:bodyPr>
          <a:lstStyle/>
          <a:p>
            <a:pPr algn="ctr"/>
            <a:r>
              <a:rPr lang="en-US" sz="3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AI for Humanity Compass</a:t>
            </a:r>
            <a:br>
              <a:rPr lang="en-US" sz="27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 decision tool to orient AI initiatives </a:t>
            </a:r>
            <a:b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toward human value, safety, and trust</a:t>
            </a:r>
            <a:endParaRPr lang="en-US" sz="27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740BD91-9808-A42A-0FBE-4A2EA9BAF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082" y="1490973"/>
            <a:ext cx="6820487" cy="486577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0D8719F-20FA-3505-ACF8-3D392474E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16208" y="0"/>
            <a:ext cx="4775791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D4EA37-C819-0B6B-BF93-0C29D02F9A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76719" y="468719"/>
            <a:ext cx="4454767" cy="5310963"/>
          </a:xfrm>
        </p:spPr>
        <p:txBody>
          <a:bodyPr anchor="ctr">
            <a:normAutofit/>
          </a:bodyPr>
          <a:lstStyle/>
          <a:p>
            <a:pPr marL="0" lvl="0" indent="0">
              <a:buNone/>
            </a:pPr>
            <a:r>
              <a:rPr lang="en-US" sz="2400" b="1" dirty="0">
                <a:solidFill>
                  <a:srgbClr val="595959"/>
                </a:solidFill>
              </a:rPr>
              <a:t>North-West: Metrics of Humanity</a:t>
            </a:r>
            <a:endParaRPr lang="en-US" sz="2400" dirty="0">
              <a:solidFill>
                <a:srgbClr val="595959"/>
              </a:solidFill>
            </a:endParaRPr>
          </a:p>
          <a:p>
            <a:r>
              <a:rPr lang="en-US" sz="1600" dirty="0">
                <a:solidFill>
                  <a:srgbClr val="595959"/>
                </a:solidFill>
              </a:rPr>
              <a:t>How we will track:</a:t>
            </a:r>
          </a:p>
          <a:p>
            <a:pPr lvl="1"/>
            <a:r>
              <a:rPr lang="en-US" sz="1200" dirty="0">
                <a:solidFill>
                  <a:srgbClr val="595959"/>
                </a:solidFill>
              </a:rPr>
              <a:t>Trust</a:t>
            </a:r>
          </a:p>
          <a:p>
            <a:pPr lvl="1"/>
            <a:r>
              <a:rPr lang="en-US" sz="1200" dirty="0">
                <a:solidFill>
                  <a:srgbClr val="595959"/>
                </a:solidFill>
              </a:rPr>
              <a:t>Dignity</a:t>
            </a:r>
          </a:p>
          <a:p>
            <a:pPr lvl="1"/>
            <a:r>
              <a:rPr lang="en-US" sz="1200" dirty="0">
                <a:solidFill>
                  <a:srgbClr val="595959"/>
                </a:solidFill>
              </a:rPr>
              <a:t>Fairness</a:t>
            </a:r>
          </a:p>
          <a:p>
            <a:pPr lvl="1"/>
            <a:r>
              <a:rPr lang="en-US" sz="1200" dirty="0">
                <a:solidFill>
                  <a:srgbClr val="595959"/>
                </a:solidFill>
              </a:rPr>
              <a:t>and well-being.</a:t>
            </a:r>
            <a:endParaRPr lang="en-US" sz="800" dirty="0">
              <a:solidFill>
                <a:srgbClr val="595959"/>
              </a:solidFill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51E2579-EBB9-AF07-5216-CBAE474F5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71876"/>
            <a:ext cx="3080731" cy="186124"/>
          </a:xfrm>
        </p:spPr>
        <p:txBody>
          <a:bodyPr/>
          <a:lstStyle/>
          <a:p>
            <a:r>
              <a:rPr lang="en-US" sz="1000" dirty="0"/>
              <a:t>© Itamar Shabtai, 2025, Claremont Graduate University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23EF12B-56AE-9169-A61C-592378887CCB}"/>
              </a:ext>
            </a:extLst>
          </p:cNvPr>
          <p:cNvSpPr/>
          <p:nvPr/>
        </p:nvSpPr>
        <p:spPr>
          <a:xfrm>
            <a:off x="914400" y="2254817"/>
            <a:ext cx="2384573" cy="722845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465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7F412D-869D-B94B-312D-1A7CECA95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AA03EDC-7067-4DFF-B672-541D016AA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BF3E39-B0BE-496A-8604-9007470FF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0" cy="686547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0A20AD-7908-964D-392E-E08C2A0D6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442" y="685800"/>
            <a:ext cx="4353116" cy="1474666"/>
          </a:xfrm>
        </p:spPr>
        <p:txBody>
          <a:bodyPr anchor="b">
            <a:normAutofit/>
          </a:bodyPr>
          <a:lstStyle/>
          <a:p>
            <a:pPr algn="ctr"/>
            <a:r>
              <a:rPr lang="en-US" sz="3200">
                <a:solidFill>
                  <a:srgbClr val="595959"/>
                </a:solidFill>
              </a:rPr>
              <a:t>How to Use the Compass (Step-by-Step)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D71CE2-26AC-3264-BC52-6807C95B6C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1442" y="2447337"/>
            <a:ext cx="4353116" cy="3770434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595959"/>
                </a:solidFill>
              </a:rPr>
              <a:t>When:</a:t>
            </a:r>
            <a:br>
              <a:rPr lang="en-US" sz="2000" dirty="0">
                <a:solidFill>
                  <a:srgbClr val="595959"/>
                </a:solidFill>
              </a:rPr>
            </a:br>
            <a:r>
              <a:rPr lang="en-US" sz="1600" dirty="0">
                <a:solidFill>
                  <a:srgbClr val="595959"/>
                </a:solidFill>
              </a:rPr>
              <a:t>Use the Compass any time you define, approve, pilot, or scale an AI system.</a:t>
            </a:r>
          </a:p>
          <a:p>
            <a:pPr marL="0" indent="0">
              <a:buNone/>
            </a:pPr>
            <a:endParaRPr lang="en-US" sz="2000" b="1" dirty="0">
              <a:solidFill>
                <a:srgbClr val="595959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595959"/>
                </a:solidFill>
              </a:rPr>
              <a:t>Who:</a:t>
            </a:r>
            <a:br>
              <a:rPr lang="en-US" sz="2000" dirty="0">
                <a:solidFill>
                  <a:srgbClr val="595959"/>
                </a:solidFill>
              </a:rPr>
            </a:br>
            <a:r>
              <a:rPr lang="en-US" sz="1600" dirty="0">
                <a:solidFill>
                  <a:srgbClr val="595959"/>
                </a:solidFill>
              </a:rPr>
              <a:t>With product, data/engineering, legal/policy, UX/accessibility, and an operator/clinician/frontline rep.</a:t>
            </a:r>
          </a:p>
          <a:p>
            <a:pPr marL="0" indent="0">
              <a:buNone/>
            </a:pPr>
            <a:endParaRPr lang="en-US" sz="2000" b="1" dirty="0">
              <a:solidFill>
                <a:srgbClr val="595959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595959"/>
                </a:solidFill>
              </a:rPr>
              <a:t>How:</a:t>
            </a:r>
            <a:br>
              <a:rPr lang="en-US" sz="2000" dirty="0">
                <a:solidFill>
                  <a:srgbClr val="595959"/>
                </a:solidFill>
              </a:rPr>
            </a:br>
            <a:r>
              <a:rPr lang="en-US" sz="1600" dirty="0">
                <a:solidFill>
                  <a:srgbClr val="595959"/>
                </a:solidFill>
              </a:rPr>
              <a:t>Brainstorming session with project team</a:t>
            </a:r>
            <a:endParaRPr lang="en-US" sz="2000" dirty="0">
              <a:solidFill>
                <a:srgbClr val="595959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2E4F85-43AF-C146-EE2C-CAA5D66423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1801" y="1740663"/>
            <a:ext cx="4797056" cy="3422244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4B7C1BE-CEAD-E222-CA84-9125FA44E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Itamar Shabtai, 2025, Claremont Graduate University</a:t>
            </a:r>
          </a:p>
        </p:txBody>
      </p:sp>
    </p:spTree>
    <p:extLst>
      <p:ext uri="{BB962C8B-B14F-4D97-AF65-F5344CB8AC3E}">
        <p14:creationId xmlns:p14="http://schemas.microsoft.com/office/powerpoint/2010/main" val="6814816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DFEE9D-15C3-7364-14E9-97E06E9EC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8532AE1-3E02-470C-B898-A0C62F2E99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401DF7-4687-415B-A91D-DB43BEEBD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464612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EFC09D2-72D2-4174-A2DF-1017D0FEB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912" y="685800"/>
            <a:ext cx="6048935" cy="5486400"/>
          </a:xfrm>
          <a:prstGeom prst="rect">
            <a:avLst/>
          </a:pr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858890-C09C-0F2F-7CC3-DFA6A2057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8612" y="1095152"/>
            <a:ext cx="4773616" cy="1065313"/>
          </a:xfrm>
        </p:spPr>
        <p:txBody>
          <a:bodyPr anchor="b">
            <a:normAutofit/>
          </a:bodyPr>
          <a:lstStyle/>
          <a:p>
            <a:pPr algn="ctr"/>
            <a:r>
              <a:rPr lang="en-US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Step 1: Write the goal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41BC2672-E9C2-A500-6568-CEF4C3D60A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1135461"/>
              </p:ext>
            </p:extLst>
          </p:nvPr>
        </p:nvGraphicFramePr>
        <p:xfrm>
          <a:off x="981751" y="2442945"/>
          <a:ext cx="5559726" cy="31719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3D12B9E-0F25-407F-2854-8AB06F365B7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7339" y="2222654"/>
            <a:ext cx="3381935" cy="2412690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E152BC0-CE0A-8960-27D1-B132525D8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Itamar Shabtai, 2025, Claremont Graduate University</a:t>
            </a:r>
          </a:p>
        </p:txBody>
      </p:sp>
    </p:spTree>
    <p:extLst>
      <p:ext uri="{BB962C8B-B14F-4D97-AF65-F5344CB8AC3E}">
        <p14:creationId xmlns:p14="http://schemas.microsoft.com/office/powerpoint/2010/main" val="3201339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96C09E-C72B-7743-2A68-F949A9219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8532AE1-3E02-470C-B898-A0C62F2E99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401DF7-4687-415B-A91D-DB43BEEBD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464612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EFC09D2-72D2-4174-A2DF-1017D0FEB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912" y="685800"/>
            <a:ext cx="6048935" cy="5486400"/>
          </a:xfrm>
          <a:prstGeom prst="rect">
            <a:avLst/>
          </a:pr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52A701-9F54-5621-2413-17D32AC10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84" y="262814"/>
            <a:ext cx="4773616" cy="1065313"/>
          </a:xfrm>
        </p:spPr>
        <p:txBody>
          <a:bodyPr anchor="b">
            <a:normAutofit/>
          </a:bodyPr>
          <a:lstStyle/>
          <a:p>
            <a:pPr algn="ctr"/>
            <a:r>
              <a:rPr lang="en-US" sz="3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Step 2: Walk the Compass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A840EA-7FF5-1D4A-42E4-7F9115B9C3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1244" y="1590941"/>
            <a:ext cx="4394123" cy="3134790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DD74D2-3B98-EB61-57DE-D8AD5B444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Itamar Shabtai, 2025, Claremont Graduate University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ACF8B47-A01E-B13F-6B1A-E98CA42E4E85}"/>
              </a:ext>
            </a:extLst>
          </p:cNvPr>
          <p:cNvSpPr txBox="1">
            <a:spLocks/>
          </p:cNvSpPr>
          <p:nvPr/>
        </p:nvSpPr>
        <p:spPr>
          <a:xfrm>
            <a:off x="2269443" y="1751113"/>
            <a:ext cx="2951872" cy="36315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solidFill>
                  <a:srgbClr val="595959"/>
                </a:solidFill>
              </a:rPr>
              <a:t>N</a:t>
            </a:r>
            <a:r>
              <a:rPr lang="en-US" sz="1600" b="1" dirty="0">
                <a:solidFill>
                  <a:srgbClr val="595959"/>
                </a:solidFill>
              </a:rPr>
              <a:t> – Purpose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solidFill>
                  <a:srgbClr val="595959"/>
                </a:solidFill>
              </a:rPr>
              <a:t>NE</a:t>
            </a:r>
            <a:r>
              <a:rPr lang="en-US" sz="1600" b="1" dirty="0">
                <a:solidFill>
                  <a:srgbClr val="595959"/>
                </a:solidFill>
              </a:rPr>
              <a:t> – People</a:t>
            </a:r>
            <a:endParaRPr lang="en-US" sz="1600" dirty="0">
              <a:solidFill>
                <a:srgbClr val="595959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solidFill>
                  <a:srgbClr val="595959"/>
                </a:solidFill>
              </a:rPr>
              <a:t>E</a:t>
            </a:r>
            <a:r>
              <a:rPr lang="en-US" sz="1600" b="1" dirty="0">
                <a:solidFill>
                  <a:srgbClr val="595959"/>
                </a:solidFill>
              </a:rPr>
              <a:t> – Values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solidFill>
                  <a:srgbClr val="595959"/>
                </a:solidFill>
              </a:rPr>
              <a:t>SE</a:t>
            </a:r>
            <a:r>
              <a:rPr lang="en-US" sz="1600" b="1" dirty="0">
                <a:solidFill>
                  <a:srgbClr val="595959"/>
                </a:solidFill>
              </a:rPr>
              <a:t> – Risks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solidFill>
                  <a:srgbClr val="595959"/>
                </a:solidFill>
              </a:rPr>
              <a:t>S</a:t>
            </a:r>
            <a:r>
              <a:rPr lang="en-US" sz="1600" b="1" dirty="0">
                <a:solidFill>
                  <a:srgbClr val="595959"/>
                </a:solidFill>
              </a:rPr>
              <a:t> – Human-in-the-Loop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solidFill>
                  <a:srgbClr val="595959"/>
                </a:solidFill>
              </a:rPr>
              <a:t>SW</a:t>
            </a:r>
            <a:r>
              <a:rPr lang="en-US" sz="1600" b="1" dirty="0">
                <a:solidFill>
                  <a:srgbClr val="595959"/>
                </a:solidFill>
              </a:rPr>
              <a:t> – Data &amp; Privacy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solidFill>
                  <a:srgbClr val="595959"/>
                </a:solidFill>
              </a:rPr>
              <a:t>W</a:t>
            </a:r>
            <a:r>
              <a:rPr lang="en-US" sz="1600" b="1" dirty="0">
                <a:solidFill>
                  <a:srgbClr val="595959"/>
                </a:solidFill>
              </a:rPr>
              <a:t> – Outcomes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solidFill>
                  <a:srgbClr val="595959"/>
                </a:solidFill>
              </a:rPr>
              <a:t>NW</a:t>
            </a:r>
            <a:r>
              <a:rPr lang="en-US" sz="1600" b="1" dirty="0">
                <a:solidFill>
                  <a:srgbClr val="595959"/>
                </a:solidFill>
              </a:rPr>
              <a:t> – Metrics of Humanity</a:t>
            </a:r>
            <a:endParaRPr lang="en-US" sz="1600" dirty="0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132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C75BCA-C245-CAF9-A404-E5811CE39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8532AE1-3E02-470C-B898-A0C62F2E99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401DF7-4687-415B-A91D-DB43BEEBD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464612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EFC09D2-72D2-4174-A2DF-1017D0FEB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912" y="685800"/>
            <a:ext cx="6048935" cy="5486400"/>
          </a:xfrm>
          <a:prstGeom prst="rect">
            <a:avLst/>
          </a:pr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AA53AE-C573-9661-6C53-DE9D561CD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8612" y="1095153"/>
            <a:ext cx="4773616" cy="686756"/>
          </a:xfrm>
        </p:spPr>
        <p:txBody>
          <a:bodyPr anchor="b">
            <a:normAutofit/>
          </a:bodyPr>
          <a:lstStyle/>
          <a:p>
            <a:pPr algn="ctr"/>
            <a:r>
              <a:rPr lang="en-US" sz="3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Step 3: Traffic-light it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0CC76F51-BCCA-4BF9-EFF0-553A885468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0117314"/>
              </p:ext>
            </p:extLst>
          </p:nvPr>
        </p:nvGraphicFramePr>
        <p:xfrm>
          <a:off x="1075536" y="2192120"/>
          <a:ext cx="5524556" cy="31719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03C3D793-21BF-9990-E3E1-18AF8EBE0B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9531" y="1910862"/>
            <a:ext cx="4436792" cy="3165230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ABBB2E5-4DF7-7AA9-9795-BF22A947B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Itamar Shabtai, 2025, Claremont Graduate University</a:t>
            </a:r>
          </a:p>
        </p:txBody>
      </p:sp>
      <p:pic>
        <p:nvPicPr>
          <p:cNvPr id="7170" name="Picture 2" descr="Traffic lights color icon Royalty Free Vector Image">
            <a:extLst>
              <a:ext uri="{FF2B5EF4-FFF2-40B4-BE49-F238E27FC236}">
                <a16:creationId xmlns:a16="http://schemas.microsoft.com/office/drawing/2014/main" id="{00ADB20A-F402-6F49-1CF4-4AB8E9B913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8273" b="11466"/>
          <a:stretch>
            <a:fillRect/>
          </a:stretch>
        </p:blipFill>
        <p:spPr bwMode="auto">
          <a:xfrm>
            <a:off x="5583448" y="3288230"/>
            <a:ext cx="512552" cy="763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6234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9B3CED-400B-E71D-DF89-9091ABAFF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8532AE1-3E02-470C-B898-A0C62F2E99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401DF7-4687-415B-A91D-DB43BEEBD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464612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EFC09D2-72D2-4174-A2DF-1017D0FEB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912" y="685800"/>
            <a:ext cx="6048935" cy="5486400"/>
          </a:xfrm>
          <a:prstGeom prst="rect">
            <a:avLst/>
          </a:pr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069FCC-7996-60BF-D2FE-81D4CE252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8129" y="1095152"/>
            <a:ext cx="5655213" cy="666385"/>
          </a:xfrm>
        </p:spPr>
        <p:txBody>
          <a:bodyPr anchor="b">
            <a:normAutofit/>
          </a:bodyPr>
          <a:lstStyle/>
          <a:p>
            <a:pPr algn="ctr"/>
            <a:r>
              <a:rPr lang="en-US" sz="3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Step 4: Decide “Go/Fix/Pause”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27CEE-C418-12B1-A96B-1A664450C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7733" y="2353552"/>
            <a:ext cx="4809252" cy="2916753"/>
          </a:xfrm>
        </p:spPr>
        <p:txBody>
          <a:bodyPr anchor="t">
            <a:normAutofit lnSpcReduction="10000"/>
          </a:bodyPr>
          <a:lstStyle/>
          <a:p>
            <a:pPr lvl="0"/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Go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= All items Green or Yellow, and Yellow items have owners and deadlines.</a:t>
            </a:r>
          </a:p>
          <a:p>
            <a:pPr lvl="0"/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Fix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= Too many Yellows, or missing owners.</a:t>
            </a:r>
          </a:p>
          <a:p>
            <a:pPr lvl="0"/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Pause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= We identified a dignity/safety risk we are not willing to accept.</a:t>
            </a:r>
          </a:p>
          <a:p>
            <a:pPr marL="0" indent="0">
              <a:buNone/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Record owners, deadlines, review dates, and escalation responsibilities.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1C4B63-9CE4-C2B6-531A-E12EA3C483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0471" y="1627808"/>
            <a:ext cx="4515669" cy="3221502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BD1E3C0-80AC-2230-8846-A1609CF35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Itamar Shabtai, 2025, Claremont Graduate University</a:t>
            </a:r>
          </a:p>
        </p:txBody>
      </p:sp>
      <p:pic>
        <p:nvPicPr>
          <p:cNvPr id="8194" name="Picture 2" descr="Fix - Free seo and web icons">
            <a:extLst>
              <a:ext uri="{FF2B5EF4-FFF2-40B4-BE49-F238E27FC236}">
                <a16:creationId xmlns:a16="http://schemas.microsoft.com/office/drawing/2014/main" id="{C6312D10-4770-BA86-DFF4-011AC1295D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1142968" y="3053887"/>
            <a:ext cx="375113" cy="375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0" name="Picture 8" descr="142,700+ Go No Go Stock Illustrations, Royalty-Free Vector Graphics &amp; Clip  Art - iStock">
            <a:extLst>
              <a:ext uri="{FF2B5EF4-FFF2-40B4-BE49-F238E27FC236}">
                <a16:creationId xmlns:a16="http://schemas.microsoft.com/office/drawing/2014/main" id="{B1308714-552B-7F20-9B36-25B5918A0F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832" y="2281680"/>
            <a:ext cx="508131" cy="508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4" name="Picture 12" descr="Pause button - Free ui icons">
            <a:extLst>
              <a:ext uri="{FF2B5EF4-FFF2-40B4-BE49-F238E27FC236}">
                <a16:creationId xmlns:a16="http://schemas.microsoft.com/office/drawing/2014/main" id="{44E31AC6-B322-814D-64BD-A214E273E7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832" y="3606800"/>
            <a:ext cx="508000" cy="50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2268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CBC8BB-647F-6090-FDAE-EF770273E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BE3092D-4105-4026-9B66-A0011E0CA5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36BA4C-3AF3-BF8C-A3B1-2B3C0B460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374" y="313228"/>
            <a:ext cx="5038916" cy="795850"/>
          </a:xfrm>
        </p:spPr>
        <p:txBody>
          <a:bodyPr anchor="b">
            <a:normAutofit/>
          </a:bodyPr>
          <a:lstStyle/>
          <a:p>
            <a:pPr algn="ctr"/>
            <a:r>
              <a:rPr lang="en-US" sz="3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Example: </a:t>
            </a:r>
            <a:r>
              <a:rPr lang="en-US" sz="3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AI Triage Agent</a:t>
            </a:r>
            <a:endParaRPr lang="en-US" sz="3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1CAB0-462E-5E11-54C2-DF35AAE59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3144" y="1960173"/>
            <a:ext cx="5555512" cy="404673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Project: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Multilingual AI triage agent for a clinic 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that helps patients describe their symptoms 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and get routed to the right level of care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9759409-BDF8-4BFD-9AF3-4B5C04C2A1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81800" y="0"/>
            <a:ext cx="54102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B625BE-1A71-1F9B-DE25-F546C5EF4B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3291" y="1699846"/>
            <a:ext cx="4880473" cy="3481754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3981814-FD86-4AA5-0453-14C5A58D2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478" y="6544772"/>
            <a:ext cx="3323492" cy="285506"/>
          </a:xfrm>
        </p:spPr>
        <p:txBody>
          <a:bodyPr/>
          <a:lstStyle/>
          <a:p>
            <a:r>
              <a:rPr lang="en-US" sz="1000" dirty="0"/>
              <a:t>© Itamar Shabtai, 2025, Claremont Graduate University</a:t>
            </a:r>
          </a:p>
        </p:txBody>
      </p:sp>
    </p:spTree>
    <p:extLst>
      <p:ext uri="{BB962C8B-B14F-4D97-AF65-F5344CB8AC3E}">
        <p14:creationId xmlns:p14="http://schemas.microsoft.com/office/powerpoint/2010/main" val="6806060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5FABF9-E164-C5EF-8AB3-53F9CF633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466BD49-A145-C3B5-AC40-5347A11B21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99A02-988B-E2AA-FD95-6CC01603F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374" y="313228"/>
            <a:ext cx="5038916" cy="795850"/>
          </a:xfrm>
        </p:spPr>
        <p:txBody>
          <a:bodyPr anchor="b">
            <a:normAutofit/>
          </a:bodyPr>
          <a:lstStyle/>
          <a:p>
            <a:pPr algn="ctr"/>
            <a:r>
              <a:rPr lang="en-US" sz="3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Example: </a:t>
            </a:r>
            <a:r>
              <a:rPr lang="en-US" sz="3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AI Triage Agent</a:t>
            </a:r>
            <a:endParaRPr lang="en-US" sz="3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539E4-B54D-0F7B-8C78-5F4684267E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3144" y="1960173"/>
            <a:ext cx="5555512" cy="404673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Purpose: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Reduce </a:t>
            </a: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confusion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and </a:t>
            </a: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anxiety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for patients seeking care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And help nurses </a:t>
            </a: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focus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on true urgent cases. </a:t>
            </a:r>
          </a:p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Out of scope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Diagnosis or treatment advice.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F5C6D03-BE52-2B13-C0BF-09FCDE8661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81800" y="0"/>
            <a:ext cx="54102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9AB783-ABB0-D976-EE9D-DF0EB5F574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3291" y="1699846"/>
            <a:ext cx="4880473" cy="3481754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E36E103-57FF-073C-B2F0-D6E7D1D66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478" y="6544772"/>
            <a:ext cx="3323492" cy="285506"/>
          </a:xfrm>
        </p:spPr>
        <p:txBody>
          <a:bodyPr/>
          <a:lstStyle/>
          <a:p>
            <a:r>
              <a:rPr lang="en-US" sz="1000" dirty="0"/>
              <a:t>© Itamar Shabtai, 2025, Claremont Graduate University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A55CBC9-726A-C08D-9765-4E6A5EC16F86}"/>
              </a:ext>
            </a:extLst>
          </p:cNvPr>
          <p:cNvSpPr/>
          <p:nvPr/>
        </p:nvSpPr>
        <p:spPr>
          <a:xfrm>
            <a:off x="8686800" y="1559169"/>
            <a:ext cx="1793631" cy="656493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1946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FD857A-86FC-9BE4-6DED-CF1BF88C4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6A69ADB-21EF-8CEE-46DF-9C4A6637BD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79FEA1-65F8-18C6-5BD5-910AC77B5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374" y="313228"/>
            <a:ext cx="5038916" cy="795850"/>
          </a:xfrm>
        </p:spPr>
        <p:txBody>
          <a:bodyPr anchor="b">
            <a:normAutofit/>
          </a:bodyPr>
          <a:lstStyle/>
          <a:p>
            <a:pPr algn="ctr"/>
            <a:r>
              <a:rPr lang="en-US" sz="3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Example: </a:t>
            </a:r>
            <a:r>
              <a:rPr lang="en-US" sz="3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AI Triage Agent</a:t>
            </a:r>
            <a:endParaRPr lang="en-US" sz="3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4F95E0-A6FF-8445-8C47-AC4E38093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3144" y="1960173"/>
            <a:ext cx="5555512" cy="404673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People: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Helps </a:t>
            </a: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patients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(especially stressed, non-native speakers)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Supports </a:t>
            </a: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nurses</a:t>
            </a:r>
          </a:p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At-risk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older adults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low-literacy patients</a:t>
            </a:r>
          </a:p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Duty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Never leave high-risk patients alone with only AI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46F85B-4E40-2DA7-8D84-3F11651E0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81800" y="0"/>
            <a:ext cx="54102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90DD4D-B755-A88F-C620-DBFEB4A96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3291" y="1699846"/>
            <a:ext cx="4880473" cy="3481754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B4CAE61-733E-50B2-19D4-BA8827ECE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478" y="6544772"/>
            <a:ext cx="3323492" cy="285506"/>
          </a:xfrm>
        </p:spPr>
        <p:txBody>
          <a:bodyPr/>
          <a:lstStyle/>
          <a:p>
            <a:r>
              <a:rPr lang="en-US" sz="1000" dirty="0"/>
              <a:t>© Itamar Shabtai, 2025, Claremont Graduate University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ED0B797-C78C-E6F8-EA48-E56593732C1C}"/>
              </a:ext>
            </a:extLst>
          </p:cNvPr>
          <p:cNvSpPr/>
          <p:nvPr/>
        </p:nvSpPr>
        <p:spPr>
          <a:xfrm>
            <a:off x="9625672" y="2145323"/>
            <a:ext cx="1793631" cy="656493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1746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25E4BF-18DB-73CD-D1B0-D5BF180E1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23D6DC1-3642-D372-9AA2-0B42DD3818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8A43F5-722B-9D3F-E72A-65C21AD25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374" y="313228"/>
            <a:ext cx="5038916" cy="795850"/>
          </a:xfrm>
        </p:spPr>
        <p:txBody>
          <a:bodyPr anchor="b">
            <a:normAutofit/>
          </a:bodyPr>
          <a:lstStyle/>
          <a:p>
            <a:pPr algn="ctr"/>
            <a:r>
              <a:rPr lang="en-US" sz="3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Example: </a:t>
            </a:r>
            <a:r>
              <a:rPr lang="en-US" sz="3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AI Triage Agent</a:t>
            </a:r>
            <a:endParaRPr lang="en-US" sz="3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9E390-6EDF-4B74-17DB-A92E575E0D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3144" y="1960173"/>
            <a:ext cx="5555512" cy="404673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Values: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Safety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(nurse escalation on red flags)</a:t>
            </a:r>
          </a:p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Empathy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(calm + respectful language)</a:t>
            </a:r>
          </a:p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Transparency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(“You are chatting with an AI agent, not a clinician”)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376453-591F-3AD2-54F9-D6F586972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81800" y="0"/>
            <a:ext cx="54102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FECEC5-5FF7-D115-D99F-A40A210DF6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3291" y="1699846"/>
            <a:ext cx="4880473" cy="3481754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0F0D678-AC0F-17AB-7A62-87449FB5E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478" y="6544772"/>
            <a:ext cx="3323492" cy="285506"/>
          </a:xfrm>
        </p:spPr>
        <p:txBody>
          <a:bodyPr/>
          <a:lstStyle/>
          <a:p>
            <a:r>
              <a:rPr lang="en-US" sz="1000" dirty="0"/>
              <a:t>© Itamar Shabtai, 2025, Claremont Graduate University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964D43F-10F1-D98F-5196-43096031A2BC}"/>
              </a:ext>
            </a:extLst>
          </p:cNvPr>
          <p:cNvSpPr/>
          <p:nvPr/>
        </p:nvSpPr>
        <p:spPr>
          <a:xfrm>
            <a:off x="10332866" y="3171091"/>
            <a:ext cx="1793631" cy="656493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4098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72B722-493D-0BC3-41A8-35A26BC5A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BCA7C13-DDAF-02A7-51E3-409A4708C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1C4720-C978-33D4-E252-780D622C4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374" y="313228"/>
            <a:ext cx="5038916" cy="795850"/>
          </a:xfrm>
        </p:spPr>
        <p:txBody>
          <a:bodyPr anchor="b">
            <a:normAutofit/>
          </a:bodyPr>
          <a:lstStyle/>
          <a:p>
            <a:pPr algn="ctr"/>
            <a:r>
              <a:rPr lang="en-US" sz="3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Example: </a:t>
            </a:r>
            <a:r>
              <a:rPr lang="en-US" sz="3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AI Triage Agent</a:t>
            </a:r>
            <a:endParaRPr lang="en-US" sz="3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5A7C5-6BAB-4D4C-EC26-07119A09C3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3144" y="1960173"/>
            <a:ext cx="5555512" cy="404673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Risks: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Wrong or unsafe advice →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restricted scripts + mandatory nurse review</a:t>
            </a:r>
          </a:p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Language bias →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bilingual testing and parity tracking</a:t>
            </a:r>
          </a:p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Over-automation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→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human review required for high-risk cases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BB9DFC5-709F-756E-A8EA-8AC06FE32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81800" y="0"/>
            <a:ext cx="54102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180BDA-B8F9-7F59-0073-E0A2C0BED2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3291" y="1699846"/>
            <a:ext cx="4880473" cy="3481754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169B61E-07F3-D2EC-74DE-24FA1CD36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478" y="6544772"/>
            <a:ext cx="3323492" cy="285506"/>
          </a:xfrm>
        </p:spPr>
        <p:txBody>
          <a:bodyPr/>
          <a:lstStyle/>
          <a:p>
            <a:r>
              <a:rPr lang="en-US" sz="1000" dirty="0"/>
              <a:t>© Itamar Shabtai, 2025, Claremont Graduate University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23DDF52-C420-C508-DFC5-775152082AC5}"/>
              </a:ext>
            </a:extLst>
          </p:cNvPr>
          <p:cNvSpPr/>
          <p:nvPr/>
        </p:nvSpPr>
        <p:spPr>
          <a:xfrm>
            <a:off x="9691441" y="4089046"/>
            <a:ext cx="1793631" cy="656493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1308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DD2E20-0941-08BD-913C-44640B4AD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01D208B-71F7-144D-4363-CB5D46C1E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08D855-6A36-EE0C-F2FF-D0A16EBCD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374" y="313228"/>
            <a:ext cx="5038916" cy="795850"/>
          </a:xfrm>
        </p:spPr>
        <p:txBody>
          <a:bodyPr anchor="b">
            <a:normAutofit/>
          </a:bodyPr>
          <a:lstStyle/>
          <a:p>
            <a:pPr algn="ctr"/>
            <a:r>
              <a:rPr lang="en-US" sz="3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Example: </a:t>
            </a:r>
            <a:r>
              <a:rPr lang="en-US" sz="3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AI Triage Agent</a:t>
            </a:r>
            <a:endParaRPr lang="en-US" sz="3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B54D8-98A4-4A02-4FCD-B07A90C916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3144" y="1960173"/>
            <a:ext cx="5555512" cy="404673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Human-In-The-Loop: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  <a:p>
            <a:pPr marL="0" lvl="0" indent="0">
              <a:buNone/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Any </a:t>
            </a: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red flag 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or </a:t>
            </a: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uncertainty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is sent to a licensed nurse within minutes</a:t>
            </a:r>
          </a:p>
          <a:p>
            <a:pPr marL="0" lvl="0" indent="0">
              <a:buNone/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nurse can </a:t>
            </a: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override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routing</a:t>
            </a:r>
          </a:p>
          <a:p>
            <a:pPr marL="0" lvl="0" indent="0">
              <a:buNone/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We confirm that the </a:t>
            </a: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nurses in the loop 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have the right </a:t>
            </a: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training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authority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capacity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and </a:t>
            </a: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emotional readiness 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to make those calls</a:t>
            </a:r>
          </a:p>
          <a:p>
            <a:pPr marL="0" lvl="0" indent="0">
              <a:buNone/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They are not just “button clickers,” they are </a:t>
            </a: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responsible decision-makers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lvl="0" indent="0">
              <a:buNone/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Escalations and overrides are logged for audit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8860948-6C23-F43F-78D3-00B4B9472E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81800" y="0"/>
            <a:ext cx="54102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38AFD3-A083-C956-2A99-06591E379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3291" y="1699846"/>
            <a:ext cx="4880473" cy="3481754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FDA1F3C-DA30-B6F7-DEE6-32138A98A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478" y="6544772"/>
            <a:ext cx="3323492" cy="285506"/>
          </a:xfrm>
        </p:spPr>
        <p:txBody>
          <a:bodyPr/>
          <a:lstStyle/>
          <a:p>
            <a:r>
              <a:rPr lang="en-US" sz="1000" dirty="0"/>
              <a:t>© Itamar Shabtai, 2025, Claremont Graduate University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3D1BD41-0334-2E28-09AE-7032D489C64B}"/>
              </a:ext>
            </a:extLst>
          </p:cNvPr>
          <p:cNvSpPr/>
          <p:nvPr/>
        </p:nvSpPr>
        <p:spPr>
          <a:xfrm>
            <a:off x="8682670" y="4724400"/>
            <a:ext cx="1793631" cy="656493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3037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076F6A-C925-AE5C-FDCD-7EC4FE6E8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E1982A0-9772-3CAF-925D-18B1B8952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53D0B6-CB62-8E89-5994-261619683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374" y="313228"/>
            <a:ext cx="5038916" cy="795850"/>
          </a:xfrm>
        </p:spPr>
        <p:txBody>
          <a:bodyPr anchor="b">
            <a:normAutofit/>
          </a:bodyPr>
          <a:lstStyle/>
          <a:p>
            <a:pPr algn="ctr"/>
            <a:r>
              <a:rPr lang="en-US" sz="3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Example: </a:t>
            </a:r>
            <a:r>
              <a:rPr lang="en-US" sz="3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AI Triage Agent</a:t>
            </a:r>
            <a:endParaRPr lang="en-US" sz="3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5E6DE-BD98-C4B8-952E-4BFB42756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3144" y="1960173"/>
            <a:ext cx="5555512" cy="404673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Data &amp; Privacy: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  <a:p>
            <a:pPr marL="0" lvl="0" indent="0">
              <a:buNone/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Only collects symptoms + contact preference</a:t>
            </a:r>
          </a:p>
          <a:p>
            <a:pPr marL="0" lvl="0" indent="0">
              <a:buNone/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Access is role-based</a:t>
            </a:r>
          </a:p>
          <a:p>
            <a:pPr marL="0" lvl="0" indent="0">
              <a:buNone/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Chat logs auto-delete after 30 days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4E3653-8F7E-988D-08F8-1598EB0B00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81800" y="0"/>
            <a:ext cx="54102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3A8634-CDC8-6F96-9C96-D62D20F839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3291" y="1699846"/>
            <a:ext cx="4880473" cy="3481754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1097A63-698B-9100-388D-9EE6E6363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478" y="6544772"/>
            <a:ext cx="3323492" cy="285506"/>
          </a:xfrm>
        </p:spPr>
        <p:txBody>
          <a:bodyPr/>
          <a:lstStyle/>
          <a:p>
            <a:r>
              <a:rPr lang="en-US" sz="1000" dirty="0"/>
              <a:t>© Itamar Shabtai, 2025, Claremont Graduate University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AB6FA8A-150A-A7AE-9006-2D48BE875936}"/>
              </a:ext>
            </a:extLst>
          </p:cNvPr>
          <p:cNvSpPr/>
          <p:nvPr/>
        </p:nvSpPr>
        <p:spPr>
          <a:xfrm>
            <a:off x="7596554" y="4091354"/>
            <a:ext cx="1793631" cy="656493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907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040F52-BF40-68B1-9D90-13F9ED238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92901DC-7317-2731-44CF-3C6B7CB90F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AB3412-A7A3-5A6E-BE94-BFF71CFFF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374" y="313228"/>
            <a:ext cx="5038916" cy="795850"/>
          </a:xfrm>
        </p:spPr>
        <p:txBody>
          <a:bodyPr anchor="b">
            <a:normAutofit/>
          </a:bodyPr>
          <a:lstStyle/>
          <a:p>
            <a:pPr algn="ctr"/>
            <a:r>
              <a:rPr lang="en-US" sz="3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Example: </a:t>
            </a:r>
            <a:r>
              <a:rPr lang="en-US" sz="3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AI Triage Agent</a:t>
            </a:r>
            <a:endParaRPr lang="en-US" sz="3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E0E66-C6DA-9D9B-55FC-BD8E3A2EF6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3144" y="1960173"/>
            <a:ext cx="5555512" cy="404673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Outcomes: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  <a:p>
            <a:pPr marL="0" lvl="0" indent="0">
              <a:buNone/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Better Healthcare service</a:t>
            </a:r>
          </a:p>
          <a:p>
            <a:pPr marL="0" lvl="0" indent="0">
              <a:buNone/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Patients feel calmer and know next steps</a:t>
            </a:r>
          </a:p>
          <a:p>
            <a:pPr marL="0" lvl="0" indent="0">
              <a:buNone/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Reduce burden: nurses get fewer repeat “what do I do now?” calls</a:t>
            </a:r>
          </a:p>
          <a:p>
            <a:pPr marL="0" lvl="0" indent="0">
              <a:buNone/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clinic routes urgent cases faster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9BEC85C-A50F-B050-3847-2B1CECD436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81800" y="0"/>
            <a:ext cx="54102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BF7EBA-B4EA-153D-847B-24940BB038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3291" y="1699846"/>
            <a:ext cx="4880473" cy="3481754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4D894D6-0632-B825-6110-295D6FA74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478" y="6544772"/>
            <a:ext cx="3323492" cy="285506"/>
          </a:xfrm>
        </p:spPr>
        <p:txBody>
          <a:bodyPr/>
          <a:lstStyle/>
          <a:p>
            <a:r>
              <a:rPr lang="en-US" sz="1000" dirty="0"/>
              <a:t>© Itamar Shabtai, 2025, Claremont Graduate University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8F8008D-EF8E-E18C-AFAA-0D2E91C72AFA}"/>
              </a:ext>
            </a:extLst>
          </p:cNvPr>
          <p:cNvSpPr/>
          <p:nvPr/>
        </p:nvSpPr>
        <p:spPr>
          <a:xfrm>
            <a:off x="6858000" y="3135922"/>
            <a:ext cx="1793631" cy="656493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7789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A29042-D15B-AEB3-ED76-C2CA1FA77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9B53B8-2202-6685-E69E-B9D39BE0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E4ED48-6107-FFF4-D460-94567EE3F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374" y="313228"/>
            <a:ext cx="5038916" cy="795850"/>
          </a:xfrm>
        </p:spPr>
        <p:txBody>
          <a:bodyPr anchor="b">
            <a:normAutofit/>
          </a:bodyPr>
          <a:lstStyle/>
          <a:p>
            <a:pPr algn="ctr"/>
            <a:r>
              <a:rPr lang="en-US" sz="3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Example: </a:t>
            </a:r>
            <a:r>
              <a:rPr lang="en-US" sz="3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AI Triage Agent</a:t>
            </a:r>
            <a:endParaRPr lang="en-US" sz="3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1FFD8-52ED-C6D0-4F29-DE9C84AADA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3144" y="1960173"/>
            <a:ext cx="5555512" cy="404673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Metrics of Humanity: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Trust/clarity score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% of patients who say “I understand what to do next.”</a:t>
            </a:r>
          </a:p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Equity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Time-to-escalation gap between English and non-English speakers.</a:t>
            </a:r>
          </a:p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Accessibility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Interface passes basic readability and accessibility checks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16F3F9-F70B-29B5-82EC-567548F19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81800" y="0"/>
            <a:ext cx="54102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A4BE6D-3C64-F11E-35EB-B7B09860BF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3291" y="1699846"/>
            <a:ext cx="4880473" cy="3481754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1486A5-339D-ECCC-D5E4-416FB551B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478" y="6544772"/>
            <a:ext cx="3323492" cy="285506"/>
          </a:xfrm>
        </p:spPr>
        <p:txBody>
          <a:bodyPr/>
          <a:lstStyle/>
          <a:p>
            <a:r>
              <a:rPr lang="en-US" sz="1000" dirty="0"/>
              <a:t>© Itamar Shabtai, 2025, Claremont Graduate University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9B074CA-872F-80BF-4951-44B0A9F09547}"/>
              </a:ext>
            </a:extLst>
          </p:cNvPr>
          <p:cNvSpPr/>
          <p:nvPr/>
        </p:nvSpPr>
        <p:spPr>
          <a:xfrm>
            <a:off x="7467600" y="2168769"/>
            <a:ext cx="1793631" cy="656493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8698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F20919-B9E2-3AEB-E620-5E3B9034B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AB69CC3-1929-6791-2ED2-7AE40278C3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8BCA69-4843-2FC3-272A-500437005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489" y="451339"/>
            <a:ext cx="5038916" cy="1143000"/>
          </a:xfrm>
        </p:spPr>
        <p:txBody>
          <a:bodyPr anchor="b">
            <a:normAutofit/>
          </a:bodyPr>
          <a:lstStyle/>
          <a:p>
            <a:pPr algn="ctr"/>
            <a:r>
              <a:rPr lang="en-US" b="1" dirty="0"/>
              <a:t>Step 3. Traffic-light </a:t>
            </a:r>
            <a:br>
              <a:rPr lang="en-US" b="1" dirty="0"/>
            </a:br>
            <a:r>
              <a:rPr lang="en-US" sz="2800" b="1" dirty="0"/>
              <a:t>(for this example)</a:t>
            </a:r>
            <a:endParaRPr lang="en-US" sz="3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E0936-7CFE-51F9-5FAC-641CAC6215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738" y="1861181"/>
            <a:ext cx="6342185" cy="4545479"/>
          </a:xfrm>
        </p:spPr>
        <p:txBody>
          <a:bodyPr anchor="t">
            <a:normAutofit/>
          </a:bodyPr>
          <a:lstStyle/>
          <a:p>
            <a:pPr marL="342900" lvl="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1400" dirty="0"/>
              <a:t>Purpose: 🟢</a:t>
            </a:r>
          </a:p>
          <a:p>
            <a:pPr marL="342900" lvl="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1400" dirty="0"/>
              <a:t>People (vulnerable groups identified and duty of care named): 🟢</a:t>
            </a:r>
          </a:p>
          <a:p>
            <a:pPr marL="342900" lvl="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1400" dirty="0"/>
              <a:t>Values (safety, empathy, transparency are enforced, not slogans): 🟢</a:t>
            </a:r>
          </a:p>
          <a:p>
            <a:pPr marL="342900" lvl="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1400" dirty="0"/>
              <a:t>Risks (mitigations exist with owners): 🟡 language parity still being tested</a:t>
            </a:r>
          </a:p>
          <a:p>
            <a:pPr marL="342900" lvl="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1400" dirty="0"/>
              <a:t>Human-in-the-Loop (qualified nurses, with authority and override power): 🟢</a:t>
            </a:r>
          </a:p>
          <a:p>
            <a:pPr marL="342900" lvl="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1400" dirty="0"/>
              <a:t>Data &amp; Privacy (minimal PHI, retention limits, role-based access): 🟢</a:t>
            </a:r>
          </a:p>
          <a:p>
            <a:pPr marL="342900" lvl="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1400" dirty="0"/>
              <a:t>Outcomes (clear patient and nurse benefit): 🟢</a:t>
            </a:r>
          </a:p>
          <a:p>
            <a:pPr marL="342900" lvl="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1400" dirty="0"/>
              <a:t>Metrics of Humanity (defined, but some baselines not yet collected): 🟡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E25AFF5-79DA-A9FC-5A33-F22538D06D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81800" y="0"/>
            <a:ext cx="54102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1C29E3-A368-88E3-DE4F-D536327E46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8965" y="1594339"/>
            <a:ext cx="5192691" cy="3704492"/>
          </a:xfrm>
          <a:prstGeom prst="rect">
            <a:avLst/>
          </a:prstGeom>
        </p:spPr>
      </p:pic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77E105D1-CA43-557B-9E53-B629D4DFEF3C}"/>
              </a:ext>
            </a:extLst>
          </p:cNvPr>
          <p:cNvSpPr txBox="1">
            <a:spLocks/>
          </p:cNvSpPr>
          <p:nvPr/>
        </p:nvSpPr>
        <p:spPr>
          <a:xfrm>
            <a:off x="47478" y="6544772"/>
            <a:ext cx="3323492" cy="2855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/>
              <a:t>© Itamar Shabtai, 2025, Claremont Graduate University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0536337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5F59E0-97D8-FADE-13CB-F735FC516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6BD16E4-EC9D-F7C1-618D-E66DC2B83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0D390B-7661-8B8C-F32C-F00738D73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935" y="359091"/>
            <a:ext cx="5038916" cy="1143000"/>
          </a:xfrm>
        </p:spPr>
        <p:txBody>
          <a:bodyPr anchor="b">
            <a:normAutofit/>
          </a:bodyPr>
          <a:lstStyle/>
          <a:p>
            <a:pPr algn="ctr"/>
            <a:r>
              <a:rPr lang="en-US" b="1" dirty="0"/>
              <a:t>Step 4. Decide </a:t>
            </a:r>
            <a:r>
              <a:rPr lang="en-US" sz="2800" b="1" dirty="0"/>
              <a:t>“Go/Fix/Pause”</a:t>
            </a:r>
            <a:endParaRPr lang="en-US" sz="3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F45EF-14B6-A344-1AA8-C20511A6C2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738" y="1861181"/>
            <a:ext cx="6342185" cy="4545479"/>
          </a:xfrm>
        </p:spPr>
        <p:txBody>
          <a:bodyPr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b="1" dirty="0"/>
              <a:t>Decision:</a:t>
            </a:r>
            <a:r>
              <a:rPr lang="en-US" sz="1800" dirty="0"/>
              <a:t> </a:t>
            </a:r>
            <a:r>
              <a:rPr lang="en-US" sz="1800" b="1" dirty="0"/>
              <a:t>FIX → GO</a:t>
            </a:r>
            <a:endParaRPr lang="en-US" sz="1800" dirty="0"/>
          </a:p>
          <a:p>
            <a:pPr lvl="0">
              <a:lnSpc>
                <a:spcPct val="150000"/>
              </a:lnSpc>
            </a:pPr>
            <a:r>
              <a:rPr lang="en-US" sz="1800" dirty="0"/>
              <a:t>We are not Red anywhere, but we have two Yellows:</a:t>
            </a:r>
          </a:p>
          <a:p>
            <a:pPr lvl="1">
              <a:lnSpc>
                <a:spcPct val="150000"/>
              </a:lnSpc>
            </a:pPr>
            <a:r>
              <a:rPr lang="en-US" sz="1600" dirty="0"/>
              <a:t>We still need baseline escalation parity between English and non-English speakers.</a:t>
            </a:r>
          </a:p>
          <a:p>
            <a:pPr lvl="1">
              <a:lnSpc>
                <a:spcPct val="150000"/>
              </a:lnSpc>
            </a:pPr>
            <a:r>
              <a:rPr lang="en-US" sz="1600" dirty="0"/>
              <a:t>We still need baseline scores for “I understand what to do next.”</a:t>
            </a:r>
          </a:p>
          <a:p>
            <a:pPr lvl="0">
              <a:lnSpc>
                <a:spcPct val="150000"/>
              </a:lnSpc>
            </a:pPr>
            <a:r>
              <a:rPr lang="en-US" sz="1800" dirty="0"/>
              <a:t>Owners are assigned (ML lead for language parity; Patient Experience lead for clarity scoring) and deadlines are set.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After those two fixes: status moves to </a:t>
            </a:r>
            <a:r>
              <a:rPr lang="en-US" sz="1800" b="1" dirty="0"/>
              <a:t>GO</a:t>
            </a:r>
            <a:r>
              <a:rPr lang="en-US" sz="1800" dirty="0"/>
              <a:t>.</a:t>
            </a:r>
            <a:endParaRPr lang="en-US" sz="20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2E4F48-A284-A39F-8804-6F5EBA9A0D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81800" y="0"/>
            <a:ext cx="54102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B39E8A-CE9C-CDE2-DDEA-165A9E3B6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8965" y="1594339"/>
            <a:ext cx="5192691" cy="3704492"/>
          </a:xfrm>
          <a:prstGeom prst="rect">
            <a:avLst/>
          </a:prstGeom>
        </p:spPr>
      </p:pic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659D568D-B4EB-6552-369A-C2ACD6192CF4}"/>
              </a:ext>
            </a:extLst>
          </p:cNvPr>
          <p:cNvSpPr txBox="1">
            <a:spLocks/>
          </p:cNvSpPr>
          <p:nvPr/>
        </p:nvSpPr>
        <p:spPr>
          <a:xfrm>
            <a:off x="47478" y="6544772"/>
            <a:ext cx="3323492" cy="2855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/>
              <a:t>© Itamar Shabtai, 2025, Claremont Graduate University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8549955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626CF5-E6D5-0F62-5C14-45ACFA80A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9158871-7CF4-8DF6-2653-8B836F6263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60CF072-C2E7-E0A3-4E63-F329A1EAF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464612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D8F57F-1F52-43BD-661A-EE55ACDC94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912" y="685800"/>
            <a:ext cx="6048935" cy="5486400"/>
          </a:xfrm>
          <a:prstGeom prst="rect">
            <a:avLst/>
          </a:pr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2AD91B-6F04-4D44-F9F3-10738D59C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84" y="2133599"/>
            <a:ext cx="4773616" cy="1553307"/>
          </a:xfrm>
        </p:spPr>
        <p:txBody>
          <a:bodyPr anchor="b">
            <a:normAutofit/>
          </a:bodyPr>
          <a:lstStyle/>
          <a:p>
            <a:pPr algn="ctr"/>
            <a:r>
              <a:rPr lang="en-US" sz="7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Q&amp;A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FB4A89-BAF3-F683-39CD-1AA3BA704A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7339" y="2222654"/>
            <a:ext cx="3381935" cy="2412690"/>
          </a:xfrm>
          <a:prstGeom prst="rect">
            <a:avLst/>
          </a:prstGeom>
        </p:spPr>
      </p:pic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8B5143AF-9E78-897E-090E-F3E501BD6AAA}"/>
              </a:ext>
            </a:extLst>
          </p:cNvPr>
          <p:cNvSpPr txBox="1">
            <a:spLocks/>
          </p:cNvSpPr>
          <p:nvPr/>
        </p:nvSpPr>
        <p:spPr>
          <a:xfrm>
            <a:off x="47478" y="6544772"/>
            <a:ext cx="3323492" cy="2855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/>
              <a:t>© Itamar Shabtai, 2025, Claremont Graduate University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4279677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04D8D7-4F3A-2F7F-7904-7914AF5F1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8532AE1-3E02-470C-B898-A0C62F2E99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401DF7-4687-415B-A91D-DB43BEEBD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464612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EFC09D2-72D2-4174-A2DF-1017D0FEB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912" y="685800"/>
            <a:ext cx="6048935" cy="5486400"/>
          </a:xfrm>
          <a:prstGeom prst="rect">
            <a:avLst/>
          </a:pr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FEA6A8-D591-2B32-E6A4-A89C60608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8612" y="1095152"/>
            <a:ext cx="4773616" cy="666385"/>
          </a:xfrm>
        </p:spPr>
        <p:txBody>
          <a:bodyPr anchor="b">
            <a:normAutofit/>
          </a:bodyPr>
          <a:lstStyle/>
          <a:p>
            <a:pPr algn="ctr"/>
            <a:r>
              <a:rPr lang="en-US" sz="3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Why the Compass Matters</a:t>
            </a:r>
            <a:r>
              <a:rPr 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 </a:t>
            </a:r>
            <a:endParaRPr lang="en-US" sz="3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3DE92-4482-6462-DEE7-3A9605696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8613" y="2447337"/>
            <a:ext cx="4773616" cy="3171970"/>
          </a:xfrm>
        </p:spPr>
        <p:txBody>
          <a:bodyPr anchor="t">
            <a:normAutofit/>
          </a:bodyPr>
          <a:lstStyle/>
          <a:p>
            <a:pPr lvl="0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It prevents “move fast and hope” culture.</a:t>
            </a:r>
          </a:p>
          <a:p>
            <a:pPr lvl="0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It creates shared accountability across product, engineering, clinical/operations, legal, compliance, and leadership.</a:t>
            </a:r>
          </a:p>
          <a:p>
            <a:pPr lvl="0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It protects vulnerable groups, not only the average user.</a:t>
            </a:r>
          </a:p>
          <a:p>
            <a:pPr lvl="0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It makes dignity and well-being measurable, not just slogans.</a:t>
            </a:r>
          </a:p>
          <a:p>
            <a:pPr lvl="0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It gives leadership proof that the AI system is not only powerful, but responsible.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 short: If you cannot defend the system through the Compass, you should not deploy it.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 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9A01FA-B416-947B-8FD7-8E5FF210B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7339" y="2222654"/>
            <a:ext cx="3381935" cy="2412690"/>
          </a:xfrm>
          <a:prstGeom prst="rect">
            <a:avLst/>
          </a:prstGeom>
        </p:spPr>
      </p:pic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DE24010C-9F65-926C-35E9-7E3B2BD8EDA6}"/>
              </a:ext>
            </a:extLst>
          </p:cNvPr>
          <p:cNvSpPr txBox="1">
            <a:spLocks/>
          </p:cNvSpPr>
          <p:nvPr/>
        </p:nvSpPr>
        <p:spPr>
          <a:xfrm>
            <a:off x="47478" y="6544772"/>
            <a:ext cx="3323492" cy="2855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/>
              <a:t>© Itamar Shabtai, 2025, Claremont Graduate University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2454814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8B8B5D-184D-81E3-D13B-3360A9BBC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8532AE1-3E02-470C-B898-A0C62F2E99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401DF7-4687-415B-A91D-DB43BEEBD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464612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EFC09D2-72D2-4174-A2DF-1017D0FEB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912" y="685800"/>
            <a:ext cx="6048935" cy="5486400"/>
          </a:xfrm>
          <a:prstGeom prst="rect">
            <a:avLst/>
          </a:pr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8D2550-3DC1-6C64-8C5C-A98E321A1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5498" y="829131"/>
            <a:ext cx="4773616" cy="1065313"/>
          </a:xfrm>
        </p:spPr>
        <p:txBody>
          <a:bodyPr anchor="b">
            <a:normAutofit/>
          </a:bodyPr>
          <a:lstStyle/>
          <a:p>
            <a:pPr algn="ctr"/>
            <a:r>
              <a:rPr lang="en-US" sz="3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How to Use This in Your Organization</a:t>
            </a:r>
            <a:r>
              <a:rPr 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 </a:t>
            </a:r>
            <a:endParaRPr lang="en-US" sz="3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4D0AD-D8FA-1372-EFFB-5FDCAA072C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8613" y="2447337"/>
            <a:ext cx="4773616" cy="3171970"/>
          </a:xfrm>
        </p:spPr>
        <p:txBody>
          <a:bodyPr anchor="t">
            <a:normAutofit/>
          </a:bodyPr>
          <a:lstStyle/>
          <a:p>
            <a:pPr lvl="0"/>
            <a: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</a:rPr>
              <a:t>Use the Compass at project intake, at pilot approval, and before scale.</a:t>
            </a:r>
          </a:p>
          <a:p>
            <a:pPr lvl="0"/>
            <a: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</a:rPr>
              <a:t>Attach the completed Compass worksheet to the project record.</a:t>
            </a:r>
          </a:p>
          <a:p>
            <a:pPr lvl="0"/>
            <a: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</a:rPr>
              <a:t>Revisit the Compass whenever the model, data, or use case changes.</a:t>
            </a:r>
          </a:p>
          <a:p>
            <a:pPr lvl="0"/>
            <a: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</a:rPr>
              <a:t>Treat “Metrics of Humanity” the same way you treat uptime and cost.</a:t>
            </a:r>
          </a:p>
          <a:p>
            <a:pPr marL="0" indent="0">
              <a:buNone/>
            </a:pPr>
            <a: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</a:rPr>
              <a:t>This turns ethical intention into an operating habit.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3C2A7E-F3DC-BD7C-8D5D-2A739AB2B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7339" y="2222654"/>
            <a:ext cx="3381935" cy="2412690"/>
          </a:xfrm>
          <a:prstGeom prst="rect">
            <a:avLst/>
          </a:prstGeom>
        </p:spPr>
      </p:pic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9C3FD2E3-02E1-47D4-788B-CFDA7FE088A1}"/>
              </a:ext>
            </a:extLst>
          </p:cNvPr>
          <p:cNvSpPr txBox="1">
            <a:spLocks/>
          </p:cNvSpPr>
          <p:nvPr/>
        </p:nvSpPr>
        <p:spPr>
          <a:xfrm>
            <a:off x="47478" y="6544772"/>
            <a:ext cx="3323492" cy="2855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/>
              <a:t>© Itamar Shabtai, 2025, Claremont Graduate University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33890825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935E9F-E50A-2A42-5722-570EE169B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5219498-D544-41AC-98FE-8F956EF66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500DBFC-17A9-4E0A-AEE2-A49F9AEEF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3AAE14-FEA8-AA2F-3C48-C46B7AB55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415" y="2131883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 You!</a:t>
            </a:r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4BE34F9A-ED68-067E-24D6-65A69B1869CE}"/>
              </a:ext>
            </a:extLst>
          </p:cNvPr>
          <p:cNvSpPr txBox="1">
            <a:spLocks/>
          </p:cNvSpPr>
          <p:nvPr/>
        </p:nvSpPr>
        <p:spPr>
          <a:xfrm>
            <a:off x="124733" y="5902569"/>
            <a:ext cx="4805691" cy="8388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914400">
              <a:lnSpc>
                <a:spcPct val="90000"/>
              </a:lnSpc>
              <a:spcBef>
                <a:spcPts val="1000"/>
              </a:spcBef>
            </a:pPr>
            <a:r>
              <a:rPr lang="en-US" sz="105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© Itamar Shabtai, 2025, Claremont Graduate University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74613BB-817C-4C4F-8A24-4936F2F06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01023" y="52996"/>
            <a:ext cx="6093363" cy="6805005"/>
            <a:chOff x="6101023" y="52996"/>
            <a:chExt cx="6093363" cy="6805005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26C820D-9A01-44F0-AE18-C2DAB089B8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3517682 w 5890490"/>
                <a:gd name="connsiteY0" fmla="*/ 0 h 6578439"/>
                <a:gd name="connsiteX1" fmla="*/ 5849513 w 5890490"/>
                <a:gd name="connsiteY1" fmla="*/ 841730 h 6578439"/>
                <a:gd name="connsiteX2" fmla="*/ 5890490 w 5890490"/>
                <a:gd name="connsiteY2" fmla="*/ 879060 h 6578439"/>
                <a:gd name="connsiteX3" fmla="*/ 5890490 w 5890490"/>
                <a:gd name="connsiteY3" fmla="*/ 1816052 h 6578439"/>
                <a:gd name="connsiteX4" fmla="*/ 5856961 w 5890490"/>
                <a:gd name="connsiteY4" fmla="*/ 1771023 h 6578439"/>
                <a:gd name="connsiteX5" fmla="*/ 5655397 w 5890490"/>
                <a:gd name="connsiteY5" fmla="*/ 1548813 h 6578439"/>
                <a:gd name="connsiteX6" fmla="*/ 3517682 w 5890490"/>
                <a:gd name="connsiteY6" fmla="*/ 658717 h 6578439"/>
                <a:gd name="connsiteX7" fmla="*/ 2395696 w 5890490"/>
                <a:gd name="connsiteY7" fmla="*/ 850721 h 6578439"/>
                <a:gd name="connsiteX8" fmla="*/ 1519955 w 5890490"/>
                <a:gd name="connsiteY8" fmla="*/ 1450441 h 6578439"/>
                <a:gd name="connsiteX9" fmla="*/ 1223630 w 5890490"/>
                <a:gd name="connsiteY9" fmla="*/ 1841430 h 6578439"/>
                <a:gd name="connsiteX10" fmla="*/ 1075857 w 5890490"/>
                <a:gd name="connsiteY10" fmla="*/ 2329343 h 6578439"/>
                <a:gd name="connsiteX11" fmla="*/ 731010 w 5890490"/>
                <a:gd name="connsiteY11" fmla="*/ 3483744 h 6578439"/>
                <a:gd name="connsiteX12" fmla="*/ 741000 w 5890490"/>
                <a:gd name="connsiteY12" fmla="*/ 4479719 h 6578439"/>
                <a:gd name="connsiteX13" fmla="*/ 1315615 w 5890490"/>
                <a:gd name="connsiteY13" fmla="*/ 5443827 h 6578439"/>
                <a:gd name="connsiteX14" fmla="*/ 2277503 w 5890490"/>
                <a:gd name="connsiteY14" fmla="*/ 6259386 h 6578439"/>
                <a:gd name="connsiteX15" fmla="*/ 3439448 w 5890490"/>
                <a:gd name="connsiteY15" fmla="*/ 6551739 h 6578439"/>
                <a:gd name="connsiteX16" fmla="*/ 4408732 w 5890490"/>
                <a:gd name="connsiteY16" fmla="*/ 6255172 h 6578439"/>
                <a:gd name="connsiteX17" fmla="*/ 5343243 w 5890490"/>
                <a:gd name="connsiteY17" fmla="*/ 5442509 h 6578439"/>
                <a:gd name="connsiteX18" fmla="*/ 5745566 w 5890490"/>
                <a:gd name="connsiteY18" fmla="*/ 5056656 h 6578439"/>
                <a:gd name="connsiteX19" fmla="*/ 5890490 w 5890490"/>
                <a:gd name="connsiteY19" fmla="*/ 4920880 h 6578439"/>
                <a:gd name="connsiteX20" fmla="*/ 5890490 w 5890490"/>
                <a:gd name="connsiteY20" fmla="*/ 5821966 h 6578439"/>
                <a:gd name="connsiteX21" fmla="*/ 5802002 w 5890490"/>
                <a:gd name="connsiteY21" fmla="*/ 5907904 h 6578439"/>
                <a:gd name="connsiteX22" fmla="*/ 5294358 w 5890490"/>
                <a:gd name="connsiteY22" fmla="*/ 6397505 h 6578439"/>
                <a:gd name="connsiteX23" fmla="*/ 5077178 w 5890490"/>
                <a:gd name="connsiteY23" fmla="*/ 6578439 h 6578439"/>
                <a:gd name="connsiteX24" fmla="*/ 1567290 w 5890490"/>
                <a:gd name="connsiteY24" fmla="*/ 6578439 h 6578439"/>
                <a:gd name="connsiteX25" fmla="*/ 1508588 w 5890490"/>
                <a:gd name="connsiteY25" fmla="*/ 6535186 h 6578439"/>
                <a:gd name="connsiteX26" fmla="*/ 826498 w 5890490"/>
                <a:gd name="connsiteY26" fmla="*/ 5876034 h 6578439"/>
                <a:gd name="connsiteX27" fmla="*/ 122403 w 5890490"/>
                <a:gd name="connsiteY27" fmla="*/ 3255655 h 6578439"/>
                <a:gd name="connsiteX28" fmla="*/ 1061197 w 5890490"/>
                <a:gd name="connsiteY28" fmla="*/ 984650 h 6578439"/>
                <a:gd name="connsiteX29" fmla="*/ 3517682 w 5890490"/>
                <a:gd name="connsiteY29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890490" h="6578439">
                  <a:moveTo>
                    <a:pt x="3517682" y="0"/>
                  </a:moveTo>
                  <a:cubicBezTo>
                    <a:pt x="4402016" y="0"/>
                    <a:pt x="5213741" y="315483"/>
                    <a:pt x="5849513" y="841730"/>
                  </a:cubicBezTo>
                  <a:lnTo>
                    <a:pt x="5890490" y="879060"/>
                  </a:lnTo>
                  <a:lnTo>
                    <a:pt x="5890490" y="1816052"/>
                  </a:lnTo>
                  <a:lnTo>
                    <a:pt x="5856961" y="1771023"/>
                  </a:lnTo>
                  <a:cubicBezTo>
                    <a:pt x="5793650" y="1694076"/>
                    <a:pt x="5726429" y="1619959"/>
                    <a:pt x="5655397" y="1548813"/>
                  </a:cubicBezTo>
                  <a:cubicBezTo>
                    <a:pt x="5082208" y="974906"/>
                    <a:pt x="4322973" y="658717"/>
                    <a:pt x="3517682" y="658717"/>
                  </a:cubicBezTo>
                  <a:cubicBezTo>
                    <a:pt x="3085520" y="658717"/>
                    <a:pt x="2718488" y="721533"/>
                    <a:pt x="2395696" y="850721"/>
                  </a:cubicBezTo>
                  <a:cubicBezTo>
                    <a:pt x="2079132" y="977407"/>
                    <a:pt x="1792668" y="1173626"/>
                    <a:pt x="1519955" y="1450441"/>
                  </a:cubicBezTo>
                  <a:cubicBezTo>
                    <a:pt x="1330275" y="1642840"/>
                    <a:pt x="1263719" y="1756094"/>
                    <a:pt x="1223630" y="1841430"/>
                  </a:cubicBezTo>
                  <a:cubicBezTo>
                    <a:pt x="1166545" y="1962981"/>
                    <a:pt x="1128532" y="2116663"/>
                    <a:pt x="1075857" y="2329343"/>
                  </a:cubicBezTo>
                  <a:cubicBezTo>
                    <a:pt x="1008652" y="2601153"/>
                    <a:pt x="916537" y="2973574"/>
                    <a:pt x="731010" y="3483744"/>
                  </a:cubicBezTo>
                  <a:cubicBezTo>
                    <a:pt x="617488" y="3795981"/>
                    <a:pt x="620731" y="4121653"/>
                    <a:pt x="741000" y="4479719"/>
                  </a:cubicBezTo>
                  <a:cubicBezTo>
                    <a:pt x="847257" y="4796172"/>
                    <a:pt x="1045888" y="5129481"/>
                    <a:pt x="1315615" y="5443827"/>
                  </a:cubicBezTo>
                  <a:cubicBezTo>
                    <a:pt x="1630753" y="5810980"/>
                    <a:pt x="1945371" y="6077784"/>
                    <a:pt x="2277503" y="6259386"/>
                  </a:cubicBezTo>
                  <a:cubicBezTo>
                    <a:pt x="2637530" y="6456133"/>
                    <a:pt x="3017536" y="6551739"/>
                    <a:pt x="3439448" y="6551739"/>
                  </a:cubicBezTo>
                  <a:cubicBezTo>
                    <a:pt x="3781571" y="6551739"/>
                    <a:pt x="4089573" y="6457449"/>
                    <a:pt x="4408732" y="6255172"/>
                  </a:cubicBezTo>
                  <a:cubicBezTo>
                    <a:pt x="4738010" y="6046310"/>
                    <a:pt x="5050941" y="5739207"/>
                    <a:pt x="5343243" y="5442509"/>
                  </a:cubicBezTo>
                  <a:cubicBezTo>
                    <a:pt x="5479860" y="5303970"/>
                    <a:pt x="5614918" y="5178206"/>
                    <a:pt x="5745566" y="5056656"/>
                  </a:cubicBezTo>
                  <a:lnTo>
                    <a:pt x="5890490" y="4920880"/>
                  </a:lnTo>
                  <a:lnTo>
                    <a:pt x="5890490" y="5821966"/>
                  </a:lnTo>
                  <a:lnTo>
                    <a:pt x="5802002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58B604F-996E-4349-B131-E04ED285D8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5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7CCEAF3-651B-4605-AE58-F96E227036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3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/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D519330-E5F1-4248-B58C-1AA0D9E6D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F3F304AF-E52F-1946-5E52-FA32F2FAE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9323" y="2292252"/>
            <a:ext cx="4141760" cy="295475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99643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14319</TotalTime>
  <Words>2057</Words>
  <Application>Microsoft Macintosh PowerPoint</Application>
  <PresentationFormat>Widescreen</PresentationFormat>
  <Paragraphs>272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Aptos</vt:lpstr>
      <vt:lpstr>Arial</vt:lpstr>
      <vt:lpstr>Calibri</vt:lpstr>
      <vt:lpstr>Calibri Light</vt:lpstr>
      <vt:lpstr>Times New Roman</vt:lpstr>
      <vt:lpstr>Office 2013 - 2022 Theme</vt:lpstr>
      <vt:lpstr>AI for Humanity Seminar</vt:lpstr>
      <vt:lpstr>A Growing Gap</vt:lpstr>
      <vt:lpstr>What Gets Missed?</vt:lpstr>
      <vt:lpstr>AI for Humanity Compass</vt:lpstr>
      <vt:lpstr>8 Essential Questions </vt:lpstr>
      <vt:lpstr>The AI for Humanity Compass A decision tool to orient AI initiatives  toward human value, safety, and trust</vt:lpstr>
      <vt:lpstr>The AI for Humanity Compass A decision tool to orient AI initiatives  toward human value, safety, and trust</vt:lpstr>
      <vt:lpstr>The AI for Humanity Compass A decision tool to orient AI initiatives  toward human value, safety, and trust</vt:lpstr>
      <vt:lpstr>The AI for Humanity Compass A decision tool to orient AI initiatives  toward human value, safety, and trust</vt:lpstr>
      <vt:lpstr>The AI for Humanity Compass A decision tool to orient AI initiatives  toward human value, safety, and trust</vt:lpstr>
      <vt:lpstr>The AI for Humanity Compass A decision tool to orient AI initiatives  toward human value, safety, and trust</vt:lpstr>
      <vt:lpstr>The AI for Humanity Compass A decision tool to orient AI initiatives  toward human value, safety, and trust</vt:lpstr>
      <vt:lpstr>The AI for Humanity Compass A decision tool to orient AI initiatives  toward human value, safety, and trust</vt:lpstr>
      <vt:lpstr>The AI for Humanity Compass A decision tool to orient AI initiatives  toward human value, safety, and trust</vt:lpstr>
      <vt:lpstr>The AI for Humanity Compass A decision tool to orient AI initiatives  toward human value, safety, and trust</vt:lpstr>
      <vt:lpstr>The AI for Humanity Compass A decision tool to orient AI initiatives  toward human value, safety, and trust</vt:lpstr>
      <vt:lpstr>The AI for Humanity Compass A decision tool to orient AI initiatives  toward human value, safety, and trust</vt:lpstr>
      <vt:lpstr>The AI for Humanity Compass A decision tool to orient AI initiatives  toward human value, safety, and trust</vt:lpstr>
      <vt:lpstr>How to Use the Compass (Step-by-Step)</vt:lpstr>
      <vt:lpstr>Step 1: Write the goal</vt:lpstr>
      <vt:lpstr>Step 2: Walk the Compass</vt:lpstr>
      <vt:lpstr>Step 3: Traffic-light it</vt:lpstr>
      <vt:lpstr>Step 4: Decide “Go/Fix/Pause”</vt:lpstr>
      <vt:lpstr>Example: AI Triage Agent</vt:lpstr>
      <vt:lpstr>Example: AI Triage Agent</vt:lpstr>
      <vt:lpstr>Example: AI Triage Agent</vt:lpstr>
      <vt:lpstr>Example: AI Triage Agent</vt:lpstr>
      <vt:lpstr>Example: AI Triage Agent</vt:lpstr>
      <vt:lpstr>Example: AI Triage Agent</vt:lpstr>
      <vt:lpstr>Example: AI Triage Agent</vt:lpstr>
      <vt:lpstr>Example: AI Triage Agent</vt:lpstr>
      <vt:lpstr>Example: AI Triage Agent</vt:lpstr>
      <vt:lpstr>Step 3. Traffic-light  (for this example)</vt:lpstr>
      <vt:lpstr>Step 4. Decide “Go/Fix/Pause”</vt:lpstr>
      <vt:lpstr>Q&amp;A</vt:lpstr>
      <vt:lpstr>Why the Compass Matters </vt:lpstr>
      <vt:lpstr>How to Use This in Your Organization 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Shabtai Itamar</dc:creator>
  <cp:lastModifiedBy>Shabtai Itamar</cp:lastModifiedBy>
  <cp:revision>37</cp:revision>
  <dcterms:created xsi:type="dcterms:W3CDTF">2025-10-24T04:15:31Z</dcterms:created>
  <dcterms:modified xsi:type="dcterms:W3CDTF">2025-11-21T00:37:07Z</dcterms:modified>
</cp:coreProperties>
</file>